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4"/>
  </p:notesMasterIdLst>
  <p:sldIdLst>
    <p:sldId id="257" r:id="rId2"/>
    <p:sldId id="277" r:id="rId3"/>
    <p:sldId id="295" r:id="rId4"/>
    <p:sldId id="292" r:id="rId5"/>
    <p:sldId id="290" r:id="rId6"/>
    <p:sldId id="288" r:id="rId7"/>
    <p:sldId id="289" r:id="rId8"/>
    <p:sldId id="298" r:id="rId9"/>
    <p:sldId id="297" r:id="rId10"/>
    <p:sldId id="302" r:id="rId11"/>
    <p:sldId id="268" r:id="rId12"/>
    <p:sldId id="299" r:id="rId13"/>
    <p:sldId id="269" r:id="rId14"/>
    <p:sldId id="274" r:id="rId15"/>
    <p:sldId id="275" r:id="rId16"/>
    <p:sldId id="271" r:id="rId17"/>
    <p:sldId id="272" r:id="rId18"/>
    <p:sldId id="304" r:id="rId19"/>
    <p:sldId id="306" r:id="rId20"/>
    <p:sldId id="276" r:id="rId21"/>
    <p:sldId id="300" r:id="rId22"/>
    <p:sldId id="30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355" autoAdjust="0"/>
  </p:normalViewPr>
  <p:slideViewPr>
    <p:cSldViewPr>
      <p:cViewPr varScale="1">
        <p:scale>
          <a:sx n="74" d="100"/>
          <a:sy n="74" d="100"/>
        </p:scale>
        <p:origin x="624" y="66"/>
      </p:cViewPr>
      <p:guideLst>
        <p:guide orient="horz" pos="2160"/>
        <p:guide pos="2880"/>
      </p:guideLst>
    </p:cSldViewPr>
  </p:slideViewPr>
  <p:outlineViewPr>
    <p:cViewPr>
      <p:scale>
        <a:sx n="50" d="100"/>
        <a:sy n="50" d="100"/>
      </p:scale>
      <p:origin x="0" y="-37224"/>
    </p:cViewPr>
  </p:outlin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40CEC0-A362-4BF0-BF41-D144976064AF}" type="datetimeFigureOut">
              <a:rPr lang="en-US" smtClean="0"/>
              <a:pPr/>
              <a:t>6/18/2018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12055B-45C4-4117-8D21-34F382C5E1B6}" type="slidenum">
              <a:rPr lang="en-US" smtClean="0"/>
              <a:pPr/>
              <a:t>‹#›</a:t>
            </a:fld>
            <a:endParaRPr lang="en-US"/>
          </a:p>
        </p:txBody>
      </p:sp>
    </p:spTree>
    <p:extLst>
      <p:ext uri="{BB962C8B-B14F-4D97-AF65-F5344CB8AC3E}">
        <p14:creationId xmlns:p14="http://schemas.microsoft.com/office/powerpoint/2010/main" val="354799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1</a:t>
            </a:fld>
            <a:endParaRPr lang="en-US"/>
          </a:p>
        </p:txBody>
      </p:sp>
    </p:spTree>
    <p:extLst>
      <p:ext uri="{BB962C8B-B14F-4D97-AF65-F5344CB8AC3E}">
        <p14:creationId xmlns:p14="http://schemas.microsoft.com/office/powerpoint/2010/main" val="3518565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2</a:t>
            </a:fld>
            <a:endParaRPr lang="en-US"/>
          </a:p>
        </p:txBody>
      </p:sp>
    </p:spTree>
    <p:extLst>
      <p:ext uri="{BB962C8B-B14F-4D97-AF65-F5344CB8AC3E}">
        <p14:creationId xmlns:p14="http://schemas.microsoft.com/office/powerpoint/2010/main" val="3115830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3</a:t>
            </a:fld>
            <a:endParaRPr lang="en-US"/>
          </a:p>
        </p:txBody>
      </p:sp>
    </p:spTree>
    <p:extLst>
      <p:ext uri="{BB962C8B-B14F-4D97-AF65-F5344CB8AC3E}">
        <p14:creationId xmlns:p14="http://schemas.microsoft.com/office/powerpoint/2010/main" val="1649452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4</a:t>
            </a:fld>
            <a:endParaRPr lang="en-US"/>
          </a:p>
        </p:txBody>
      </p:sp>
    </p:spTree>
    <p:extLst>
      <p:ext uri="{BB962C8B-B14F-4D97-AF65-F5344CB8AC3E}">
        <p14:creationId xmlns:p14="http://schemas.microsoft.com/office/powerpoint/2010/main" val="2020338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7</a:t>
            </a:fld>
            <a:endParaRPr lang="en-US"/>
          </a:p>
        </p:txBody>
      </p:sp>
    </p:spTree>
    <p:extLst>
      <p:ext uri="{BB962C8B-B14F-4D97-AF65-F5344CB8AC3E}">
        <p14:creationId xmlns:p14="http://schemas.microsoft.com/office/powerpoint/2010/main" val="2621860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12055B-45C4-4117-8D21-34F382C5E1B6}" type="slidenum">
              <a:rPr lang="en-US" smtClean="0"/>
              <a:pPr/>
              <a:t>9</a:t>
            </a:fld>
            <a:endParaRPr lang="en-US"/>
          </a:p>
        </p:txBody>
      </p:sp>
    </p:spTree>
    <p:extLst>
      <p:ext uri="{BB962C8B-B14F-4D97-AF65-F5344CB8AC3E}">
        <p14:creationId xmlns:p14="http://schemas.microsoft.com/office/powerpoint/2010/main" val="2502179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10</a:t>
            </a:fld>
            <a:endParaRPr lang="en-US"/>
          </a:p>
        </p:txBody>
      </p:sp>
    </p:spTree>
    <p:extLst>
      <p:ext uri="{BB962C8B-B14F-4D97-AF65-F5344CB8AC3E}">
        <p14:creationId xmlns:p14="http://schemas.microsoft.com/office/powerpoint/2010/main" val="325193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are</a:t>
            </a:r>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13</a:t>
            </a:fld>
            <a:endParaRPr lang="en-US"/>
          </a:p>
        </p:txBody>
      </p:sp>
    </p:spTree>
    <p:extLst>
      <p:ext uri="{BB962C8B-B14F-4D97-AF65-F5344CB8AC3E}">
        <p14:creationId xmlns:p14="http://schemas.microsoft.com/office/powerpoint/2010/main" val="2082107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14</a:t>
            </a:fld>
            <a:endParaRPr lang="en-US"/>
          </a:p>
        </p:txBody>
      </p:sp>
    </p:spTree>
    <p:extLst>
      <p:ext uri="{BB962C8B-B14F-4D97-AF65-F5344CB8AC3E}">
        <p14:creationId xmlns:p14="http://schemas.microsoft.com/office/powerpoint/2010/main" val="2279213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12055B-45C4-4117-8D21-34F382C5E1B6}" type="slidenum">
              <a:rPr lang="en-US" smtClean="0"/>
              <a:pPr/>
              <a:t>17</a:t>
            </a:fld>
            <a:endParaRPr lang="en-US"/>
          </a:p>
        </p:txBody>
      </p:sp>
    </p:spTree>
    <p:extLst>
      <p:ext uri="{BB962C8B-B14F-4D97-AF65-F5344CB8AC3E}">
        <p14:creationId xmlns:p14="http://schemas.microsoft.com/office/powerpoint/2010/main" val="682367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9D565155-CD2F-417C-986E-30C98FC5ED88}" type="datetimeFigureOut">
              <a:rPr lang="en-US" smtClean="0"/>
              <a:pPr/>
              <a:t>6/18/2018</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03272DEA-3E1E-4496-A58B-3800E4FE2AE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D565155-CD2F-417C-986E-30C98FC5ED88}" type="datetimeFigureOut">
              <a:rPr lang="en-US" smtClean="0"/>
              <a:pPr/>
              <a:t>6/18/2018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D565155-CD2F-417C-986E-30C98FC5ED88}" type="datetimeFigureOut">
              <a:rPr lang="en-US" smtClean="0"/>
              <a:pPr/>
              <a:t>6/18/2018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72DEA-3E1E-4496-A58B-3800E4FE2AE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D565155-CD2F-417C-986E-30C98FC5ED88}" type="datetimeFigureOut">
              <a:rPr lang="en-US" smtClean="0"/>
              <a:pPr/>
              <a:t>6/18/2018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D565155-CD2F-417C-986E-30C98FC5ED88}" type="datetimeFigureOut">
              <a:rPr lang="en-US" smtClean="0"/>
              <a:pPr/>
              <a:t>6/18/2018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D565155-CD2F-417C-986E-30C98FC5ED88}" type="datetimeFigureOut">
              <a:rPr lang="en-US" smtClean="0"/>
              <a:pPr/>
              <a:t>6/18/2018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565155-CD2F-417C-986E-30C98FC5ED88}" type="datetimeFigureOut">
              <a:rPr lang="en-US" smtClean="0"/>
              <a:pPr/>
              <a:t>6/18/2018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D565155-CD2F-417C-986E-30C98FC5ED88}" type="datetimeFigureOut">
              <a:rPr lang="en-US" smtClean="0"/>
              <a:pPr/>
              <a:t>6/18/2018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D565155-CD2F-417C-986E-30C98FC5ED88}" type="datetimeFigureOut">
              <a:rPr lang="en-US" smtClean="0"/>
              <a:pPr/>
              <a:t>6/18/2018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03272DEA-3E1E-4496-A58B-3800E4FE2AE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D565155-CD2F-417C-986E-30C98FC5ED88}" type="datetimeFigureOut">
              <a:rPr lang="en-US" smtClean="0"/>
              <a:pPr/>
              <a:t>6/18/2018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D565155-CD2F-417C-986E-30C98FC5ED88}" type="datetimeFigureOut">
              <a:rPr lang="en-US" smtClean="0"/>
              <a:pPr/>
              <a:t>6/18/2018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72DEA-3E1E-4496-A58B-3800E4FE2AE2}" type="slidenum">
              <a:rPr lang="en-US" smtClean="0"/>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D565155-CD2F-417C-986E-30C98FC5ED88}" type="datetimeFigureOut">
              <a:rPr lang="en-US" smtClean="0"/>
              <a:pPr/>
              <a:t>6/18/2018</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3272DEA-3E1E-4496-A58B-3800E4FE2AE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endParaRPr lang="en-US" sz="2800" dirty="0"/>
          </a:p>
        </p:txBody>
      </p:sp>
      <p:sp>
        <p:nvSpPr>
          <p:cNvPr id="3" name="Content Placeholder 2"/>
          <p:cNvSpPr>
            <a:spLocks noGrp="1"/>
          </p:cNvSpPr>
          <p:nvPr>
            <p:ph idx="1"/>
          </p:nvPr>
        </p:nvSpPr>
        <p:spPr/>
        <p:txBody>
          <a:bodyPr/>
          <a:lstStyle/>
          <a:p>
            <a:pPr>
              <a:buNone/>
            </a:pPr>
            <a:r>
              <a:rPr lang="en-US" dirty="0" smtClean="0">
                <a:solidFill>
                  <a:schemeClr val="accent5"/>
                </a:solidFill>
              </a:rPr>
              <a:t>    </a:t>
            </a:r>
            <a:r>
              <a:rPr lang="en-US" b="1" dirty="0" smtClean="0"/>
              <a:t>ADVOCACY ON ELECTRICITY CUSTOMERS’ RIGHTS AND RESPONSIBILITIES IN NIGERIAN ELECTRICITY MARKET</a:t>
            </a:r>
          </a:p>
          <a:p>
            <a:pPr>
              <a:buNone/>
            </a:pPr>
            <a:r>
              <a:rPr lang="en-US" dirty="0" smtClean="0"/>
              <a:t> </a:t>
            </a:r>
          </a:p>
          <a:p>
            <a:pPr>
              <a:buNone/>
            </a:pPr>
            <a:r>
              <a:rPr lang="en-US" dirty="0" smtClean="0"/>
              <a:t>                          Presented by: </a:t>
            </a:r>
          </a:p>
          <a:p>
            <a:pPr>
              <a:buNone/>
            </a:pPr>
            <a:r>
              <a:rPr lang="en-US" dirty="0" smtClean="0"/>
              <a:t>                          Handley  Blue-Jack</a:t>
            </a:r>
            <a:endParaRPr lang="en-US" dirty="0"/>
          </a:p>
          <a:p>
            <a:pPr>
              <a:buNone/>
            </a:pPr>
            <a:r>
              <a:rPr lang="en-US" dirty="0" smtClean="0"/>
              <a:t>                          Tel:08035892323</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446314" y="1825317"/>
            <a:ext cx="7249886" cy="4389120"/>
          </a:xfrm>
        </p:spPr>
        <p:txBody>
          <a:bodyPr>
            <a:normAutofit fontScale="85000" lnSpcReduction="10000"/>
          </a:bodyPr>
          <a:lstStyle/>
          <a:p>
            <a:r>
              <a:rPr lang="en-US" dirty="0" smtClean="0"/>
              <a:t> Based on ESPR 2005, Nigerian Electricity Regulatory Commission (NERC) has established  rules and regulations governing the  provision of  Electricity  services in Nigeria.</a:t>
            </a:r>
          </a:p>
          <a:p>
            <a:pPr>
              <a:buNone/>
            </a:pPr>
            <a:endParaRPr lang="en-US" dirty="0" smtClean="0"/>
          </a:p>
          <a:p>
            <a:r>
              <a:rPr lang="en-US" dirty="0" smtClean="0"/>
              <a:t>  The  Purpose  of the guidelines  are to ensure  standardization  in the provision of  Electricity services  to Customers  by Electricity   Services Providers(Discos ).</a:t>
            </a:r>
          </a:p>
          <a:p>
            <a:endParaRPr lang="en-US" dirty="0" smtClean="0"/>
          </a:p>
          <a:p>
            <a:r>
              <a:rPr lang="en-US" dirty="0" smtClean="0"/>
              <a:t> The  Nigerian Electricity  Regulatory Commission has equally stipulated certain responsibilities electricity customers are to fulfill to service providers.</a:t>
            </a:r>
          </a:p>
          <a:p>
            <a:pPr>
              <a:buNone/>
            </a:pPr>
            <a:endParaRPr lang="en-US" dirty="0" smtClean="0"/>
          </a:p>
          <a:p>
            <a:pPr>
              <a:buNone/>
            </a:pPr>
            <a:endParaRPr lang="en-US" dirty="0" smtClean="0"/>
          </a:p>
          <a:p>
            <a:pPr>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0875" y="2057400"/>
            <a:ext cx="2143125" cy="21431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Cont’d</a:t>
            </a:r>
            <a:endParaRPr lang="en-US" dirty="0"/>
          </a:p>
        </p:txBody>
      </p:sp>
      <p:sp>
        <p:nvSpPr>
          <p:cNvPr id="3" name="Content Placeholder 2"/>
          <p:cNvSpPr>
            <a:spLocks noGrp="1"/>
          </p:cNvSpPr>
          <p:nvPr>
            <p:ph idx="1"/>
          </p:nvPr>
        </p:nvSpPr>
        <p:spPr>
          <a:xfrm>
            <a:off x="457200" y="2057400"/>
            <a:ext cx="7162800" cy="4389120"/>
          </a:xfrm>
        </p:spPr>
        <p:txBody>
          <a:bodyPr>
            <a:normAutofit fontScale="92500" lnSpcReduction="20000"/>
          </a:bodyPr>
          <a:lstStyle/>
          <a:p>
            <a:r>
              <a:rPr lang="en-US" dirty="0" smtClean="0"/>
              <a:t>Evidence from pilot survey  carried out on Electricity Consumers  indicates high level of ignorance on Electricity Customers rights and responsibilities.</a:t>
            </a:r>
          </a:p>
          <a:p>
            <a:endParaRPr lang="en-US" dirty="0" smtClean="0"/>
          </a:p>
          <a:p>
            <a:r>
              <a:rPr lang="en-US" dirty="0" smtClean="0"/>
              <a:t>This presentation is aimed at ensuring a balancing act among  these stakeholders notably the Regulator, Service Providers(</a:t>
            </a:r>
            <a:r>
              <a:rPr lang="en-US" dirty="0" err="1" smtClean="0"/>
              <a:t>DisCos</a:t>
            </a:r>
            <a:r>
              <a:rPr lang="en-US" dirty="0" smtClean="0"/>
              <a:t>), and Electricity Consumers.</a:t>
            </a:r>
          </a:p>
          <a:p>
            <a:pPr marL="0" indent="0">
              <a:buNone/>
            </a:pPr>
            <a:r>
              <a:rPr lang="en-US" dirty="0" smtClean="0"/>
              <a:t> </a:t>
            </a:r>
          </a:p>
          <a:p>
            <a:r>
              <a:rPr lang="en-US" dirty="0" smtClean="0"/>
              <a:t>Efficient and effective  advocacy will  shed more light on above balancing act among the stakeholders in Electricity Industry.  </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4114800"/>
            <a:ext cx="1981200" cy="1066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Objectives of the Presentation </a:t>
            </a:r>
            <a:endParaRPr lang="en-US" dirty="0"/>
          </a:p>
        </p:txBody>
      </p:sp>
      <p:sp>
        <p:nvSpPr>
          <p:cNvPr id="3" name="Content Placeholder 2"/>
          <p:cNvSpPr>
            <a:spLocks noGrp="1"/>
          </p:cNvSpPr>
          <p:nvPr>
            <p:ph idx="1"/>
          </p:nvPr>
        </p:nvSpPr>
        <p:spPr>
          <a:xfrm>
            <a:off x="457200" y="2438400"/>
            <a:ext cx="6872990" cy="3572656"/>
          </a:xfrm>
        </p:spPr>
        <p:txBody>
          <a:bodyPr>
            <a:normAutofit fontScale="77500" lnSpcReduction="20000"/>
          </a:bodyPr>
          <a:lstStyle/>
          <a:p>
            <a:r>
              <a:rPr lang="en-US" dirty="0" smtClean="0"/>
              <a:t>To ensure that consumers know their rights and obligations. </a:t>
            </a:r>
          </a:p>
          <a:p>
            <a:r>
              <a:rPr lang="en-US" dirty="0" smtClean="0"/>
              <a:t> To create pervasive awareness of  Electricity Consumers rights and responsibilities in the Electricity Market.</a:t>
            </a:r>
          </a:p>
          <a:p>
            <a:r>
              <a:rPr lang="en-US" dirty="0" smtClean="0"/>
              <a:t>To  create a  balancing act among stakeholders  notably the Regulator, Service Providers and Electricity Customers.</a:t>
            </a:r>
          </a:p>
          <a:p>
            <a:r>
              <a:rPr lang="en-US" dirty="0" smtClean="0"/>
              <a:t>To ensure  effective market regulation,   stability and </a:t>
            </a:r>
            <a:r>
              <a:rPr lang="en-US" dirty="0" smtClean="0"/>
              <a:t>profitability.</a:t>
            </a:r>
          </a:p>
          <a:p>
            <a:r>
              <a:rPr lang="en-US" dirty="0" smtClean="0"/>
              <a:t>To create awareness among stakeholder to make electricity available on demand.</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3700" y="3607789"/>
            <a:ext cx="1721691" cy="12338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advocacy?</a:t>
            </a:r>
            <a:endParaRPr lang="en-US" dirty="0"/>
          </a:p>
        </p:txBody>
      </p:sp>
      <p:sp>
        <p:nvSpPr>
          <p:cNvPr id="3" name="Content Placeholder 2"/>
          <p:cNvSpPr>
            <a:spLocks noGrp="1"/>
          </p:cNvSpPr>
          <p:nvPr>
            <p:ph idx="1"/>
          </p:nvPr>
        </p:nvSpPr>
        <p:spPr>
          <a:xfrm>
            <a:off x="152400" y="1847088"/>
            <a:ext cx="7239000" cy="4389120"/>
          </a:xfrm>
        </p:spPr>
        <p:txBody>
          <a:bodyPr/>
          <a:lstStyle/>
          <a:p>
            <a:r>
              <a:rPr lang="en-US" dirty="0" smtClean="0"/>
              <a:t>Advocacy is an activity  by  individual  or group  which  aim  to influence  decision  within the political , economic  and social system  and institution .</a:t>
            </a:r>
          </a:p>
          <a:p>
            <a:r>
              <a:rPr lang="en-US" dirty="0" smtClean="0"/>
              <a:t> Advocacy  also include many actitivities  that  a person  or organization  undertakes including media speaking, commissioning  and publishing research.</a:t>
            </a:r>
          </a:p>
          <a:p>
            <a:r>
              <a:rPr lang="en-US" dirty="0" smtClean="0"/>
              <a:t>Source : Wikipedia.</a:t>
            </a:r>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2799" y="4788408"/>
            <a:ext cx="2974001" cy="1447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Purpose of  our Advocacy</a:t>
            </a:r>
            <a:endParaRPr lang="en-US" dirty="0"/>
          </a:p>
        </p:txBody>
      </p:sp>
      <p:sp>
        <p:nvSpPr>
          <p:cNvPr id="3" name="Content Placeholder 2"/>
          <p:cNvSpPr>
            <a:spLocks noGrp="1"/>
          </p:cNvSpPr>
          <p:nvPr>
            <p:ph idx="1"/>
          </p:nvPr>
        </p:nvSpPr>
        <p:spPr/>
        <p:txBody>
          <a:bodyPr/>
          <a:lstStyle/>
          <a:p>
            <a:r>
              <a:rPr lang="en-US" dirty="0" smtClean="0"/>
              <a:t>Advocacy in all its forms seek to ensure that people ,particularly those who are vulnerable in the society (</a:t>
            </a:r>
            <a:r>
              <a:rPr lang="en-US" dirty="0" err="1" smtClean="0"/>
              <a:t>ie</a:t>
            </a:r>
            <a:r>
              <a:rPr lang="en-US" dirty="0" smtClean="0"/>
              <a:t> Electricity Customers) are able to :</a:t>
            </a:r>
          </a:p>
          <a:p>
            <a:r>
              <a:rPr lang="en-US" dirty="0" smtClean="0"/>
              <a:t>(a)Have their voice heard on issues that are important to them.</a:t>
            </a:r>
          </a:p>
          <a:p>
            <a:r>
              <a:rPr lang="en-US" dirty="0" smtClean="0"/>
              <a:t>(b)Access information and services.</a:t>
            </a:r>
          </a:p>
          <a:p>
            <a:r>
              <a:rPr lang="en-US" dirty="0" smtClean="0"/>
              <a:t>(c)Defend and safeguard their rights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3886200"/>
            <a:ext cx="2143125" cy="21431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Purpose of our advocacy Cont’d</a:t>
            </a:r>
            <a:endParaRPr lang="en-US" dirty="0"/>
          </a:p>
        </p:txBody>
      </p:sp>
      <p:sp>
        <p:nvSpPr>
          <p:cNvPr id="3" name="Content Placeholder 2"/>
          <p:cNvSpPr>
            <a:spLocks noGrp="1"/>
          </p:cNvSpPr>
          <p:nvPr>
            <p:ph idx="1"/>
          </p:nvPr>
        </p:nvSpPr>
        <p:spPr/>
        <p:txBody>
          <a:bodyPr/>
          <a:lstStyle/>
          <a:p>
            <a:r>
              <a:rPr lang="en-US" dirty="0" smtClean="0"/>
              <a:t>(d) Have their views and wishes genuinely  considered  when decision  are being made about their lives.</a:t>
            </a:r>
          </a:p>
          <a:p>
            <a:r>
              <a:rPr lang="en-US" dirty="0" smtClean="0"/>
              <a:t> Express their views and rights </a:t>
            </a:r>
          </a:p>
          <a:p>
            <a:r>
              <a:rPr lang="en-US" dirty="0" smtClean="0"/>
              <a:t>Explore choices  and options available to them </a:t>
            </a:r>
          </a:p>
          <a:p>
            <a:r>
              <a:rPr lang="en-US" dirty="0" smtClean="0"/>
              <a:t>Define their rights and responsibilities.</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4343400"/>
            <a:ext cx="2971800" cy="1752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embarking on  Advocacy  Cont’d</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a:t>
            </a:r>
            <a:r>
              <a:rPr lang="en-US" sz="2800" dirty="0" smtClean="0"/>
              <a:t>Information is power” “If you are not informed  your deformed” –Anonymous</a:t>
            </a:r>
          </a:p>
          <a:p>
            <a:pPr>
              <a:buNone/>
            </a:pPr>
            <a:endParaRPr lang="en-US" sz="2800" dirty="0" smtClean="0"/>
          </a:p>
          <a:p>
            <a:pPr>
              <a:buNone/>
            </a:pPr>
            <a:r>
              <a:rPr lang="en-US" sz="2800" dirty="0" smtClean="0"/>
              <a:t>  “Effective advocacy and information dissemination on extant regulatory laws  by the regulator  are essential  ingredients for  balance of power  between Energy Providers and Customers in the Nigerian Electricity Market.   - HD Blue-Jack.</a:t>
            </a:r>
          </a:p>
          <a:p>
            <a:pPr>
              <a:buNone/>
            </a:pPr>
            <a:r>
              <a:rPr lang="en-US" sz="2800" dirty="0" smtClean="0"/>
              <a:t>Strangely, this public sensitization has being done, but more efforts  are needed to inform unenlightened customers.</a:t>
            </a:r>
            <a:endParaRPr lang="en-US" sz="2800" dirty="0"/>
          </a:p>
          <a:p>
            <a:pPr>
              <a:buNone/>
            </a:pPr>
            <a:endParaRPr lang="en-US" sz="2800" dirty="0" smtClean="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Channels of Advocacy</a:t>
            </a:r>
            <a:endParaRPr lang="en-US" dirty="0"/>
          </a:p>
        </p:txBody>
      </p:sp>
      <p:sp>
        <p:nvSpPr>
          <p:cNvPr id="3" name="Content Placeholder 2"/>
          <p:cNvSpPr>
            <a:spLocks noGrp="1"/>
          </p:cNvSpPr>
          <p:nvPr>
            <p:ph idx="1"/>
          </p:nvPr>
        </p:nvSpPr>
        <p:spPr/>
        <p:txBody>
          <a:bodyPr/>
          <a:lstStyle/>
          <a:p>
            <a:r>
              <a:rPr lang="en-US" dirty="0" smtClean="0"/>
              <a:t> Town Hall Meeting </a:t>
            </a:r>
          </a:p>
          <a:p>
            <a:r>
              <a:rPr lang="en-US" dirty="0" smtClean="0"/>
              <a:t> Print Media/ Electronic  Media</a:t>
            </a:r>
          </a:p>
          <a:p>
            <a:r>
              <a:rPr lang="en-US" dirty="0" smtClean="0"/>
              <a:t>Radio Jingles</a:t>
            </a:r>
          </a:p>
          <a:p>
            <a:r>
              <a:rPr lang="en-US" dirty="0" smtClean="0"/>
              <a:t> Social Media/ Internet</a:t>
            </a:r>
          </a:p>
          <a:p>
            <a:r>
              <a:rPr lang="en-US" dirty="0" smtClean="0"/>
              <a:t> Billboards etc</a:t>
            </a:r>
          </a:p>
          <a:p>
            <a:r>
              <a:rPr lang="en-US" dirty="0" smtClean="0"/>
              <a:t>Retreat among Stakeholders</a:t>
            </a:r>
          </a:p>
          <a:p>
            <a:endParaRPr lang="en-US" dirty="0" smtClean="0"/>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2819400"/>
            <a:ext cx="2667000" cy="1714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Stakeholders Responsibilities</a:t>
            </a:r>
            <a:endParaRPr lang="en-US" dirty="0"/>
          </a:p>
        </p:txBody>
      </p:sp>
      <p:sp>
        <p:nvSpPr>
          <p:cNvPr id="3" name="Content Placeholder 2"/>
          <p:cNvSpPr>
            <a:spLocks noGrp="1"/>
          </p:cNvSpPr>
          <p:nvPr>
            <p:ph idx="1"/>
          </p:nvPr>
        </p:nvSpPr>
        <p:spPr/>
        <p:txBody>
          <a:bodyPr>
            <a:normAutofit/>
          </a:bodyPr>
          <a:lstStyle/>
          <a:p>
            <a:pPr>
              <a:buNone/>
            </a:pPr>
            <a:r>
              <a:rPr lang="en-US" dirty="0"/>
              <a:t> The ESPR Act 2005  recognized three  major actors namely:</a:t>
            </a:r>
          </a:p>
          <a:p>
            <a:pPr>
              <a:buNone/>
            </a:pPr>
            <a:r>
              <a:rPr lang="en-US" dirty="0"/>
              <a:t> (1) The Regulator ( NERC</a:t>
            </a:r>
            <a:r>
              <a:rPr lang="en-US" dirty="0" smtClean="0"/>
              <a:t>)/ Government.</a:t>
            </a:r>
            <a:endParaRPr lang="en-US" dirty="0"/>
          </a:p>
          <a:p>
            <a:pPr>
              <a:buNone/>
            </a:pPr>
            <a:r>
              <a:rPr lang="en-US" dirty="0"/>
              <a:t>(2) The Distribution Companies( </a:t>
            </a:r>
            <a:r>
              <a:rPr lang="en-US" dirty="0" err="1"/>
              <a:t>DIsCos</a:t>
            </a:r>
            <a:r>
              <a:rPr lang="en-US" dirty="0" smtClean="0"/>
              <a:t>).</a:t>
            </a:r>
            <a:endParaRPr lang="en-US" dirty="0"/>
          </a:p>
          <a:p>
            <a:pPr>
              <a:buNone/>
            </a:pPr>
            <a:r>
              <a:rPr lang="en-US" dirty="0"/>
              <a:t>(3) The </a:t>
            </a:r>
            <a:r>
              <a:rPr lang="en-US" dirty="0" smtClean="0"/>
              <a:t>Customers/Consumers.</a:t>
            </a:r>
            <a:endParaRPr lang="en-US" dirty="0"/>
          </a:p>
          <a:p>
            <a:pPr>
              <a:buNone/>
            </a:pPr>
            <a:endParaRPr lang="en-US" dirty="0"/>
          </a:p>
          <a:p>
            <a:pPr>
              <a:buNone/>
            </a:pPr>
            <a:r>
              <a:rPr lang="en-US" dirty="0"/>
              <a:t>  </a:t>
            </a:r>
            <a:r>
              <a:rPr lang="en-US" dirty="0" smtClean="0"/>
              <a:t>Each of these  </a:t>
            </a:r>
            <a:r>
              <a:rPr lang="en-US" dirty="0"/>
              <a:t>major </a:t>
            </a:r>
            <a:r>
              <a:rPr lang="en-US" dirty="0" smtClean="0"/>
              <a:t>actors have decisive roles to play as </a:t>
            </a:r>
            <a:r>
              <a:rPr lang="en-US" dirty="0" err="1" smtClean="0"/>
              <a:t>viz</a:t>
            </a:r>
            <a:r>
              <a:rPr lang="en-US" dirty="0" smtClean="0"/>
              <a:t>:</a:t>
            </a:r>
          </a:p>
          <a:p>
            <a:pPr>
              <a:buNone/>
            </a:pPr>
            <a:r>
              <a:rPr lang="en-US" dirty="0" smtClean="0"/>
              <a:t>.</a:t>
            </a:r>
            <a:endParaRPr lang="en-US" dirty="0"/>
          </a:p>
          <a:p>
            <a:pPr>
              <a:buNone/>
            </a:pPr>
            <a:endParaRPr lang="en-US" dirty="0"/>
          </a:p>
          <a:p>
            <a:endParaRPr lang="en-US" dirty="0"/>
          </a:p>
        </p:txBody>
      </p:sp>
    </p:spTree>
    <p:extLst>
      <p:ext uri="{BB962C8B-B14F-4D97-AF65-F5344CB8AC3E}">
        <p14:creationId xmlns:p14="http://schemas.microsoft.com/office/powerpoint/2010/main" val="250210866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763000" cy="1143000"/>
          </a:xfrm>
        </p:spPr>
        <p:txBody>
          <a:bodyPr/>
          <a:lstStyle/>
          <a:p>
            <a:r>
              <a:rPr lang="en-US" dirty="0" err="1" smtClean="0"/>
              <a:t>Nerc</a:t>
            </a:r>
            <a:r>
              <a:rPr lang="en-US" dirty="0" smtClean="0"/>
              <a:t> Responsibilities</a:t>
            </a:r>
            <a:endParaRPr lang="en-US" dirty="0"/>
          </a:p>
        </p:txBody>
      </p:sp>
      <p:sp>
        <p:nvSpPr>
          <p:cNvPr id="3" name="Content Placeholder 2"/>
          <p:cNvSpPr>
            <a:spLocks noGrp="1"/>
          </p:cNvSpPr>
          <p:nvPr>
            <p:ph idx="1"/>
          </p:nvPr>
        </p:nvSpPr>
        <p:spPr>
          <a:xfrm>
            <a:off x="457200" y="2057400"/>
            <a:ext cx="6629400" cy="4267200"/>
          </a:xfrm>
        </p:spPr>
        <p:txBody>
          <a:bodyPr>
            <a:normAutofit fontScale="85000" lnSpcReduction="20000"/>
          </a:bodyPr>
          <a:lstStyle/>
          <a:p>
            <a:r>
              <a:rPr lang="en-US" dirty="0" smtClean="0"/>
              <a:t>The Nigerian Electricity Regulatory Commission (NERC) is empowered by the Electric Power Sector Reform (EPSR) Act, 2005 to ensure an efficiently managed electricity supply industry that meets the yearnings of Nigerians for stable, adequate and safe electricity supply  (  Source : Nerc Website)</a:t>
            </a:r>
          </a:p>
          <a:p>
            <a:pPr marL="0" indent="0">
              <a:buNone/>
            </a:pPr>
            <a:endParaRPr lang="en-US" dirty="0" smtClean="0"/>
          </a:p>
          <a:p>
            <a:r>
              <a:rPr lang="en-US" dirty="0" smtClean="0"/>
              <a:t> In light of the above NERC have the following roles </a:t>
            </a:r>
          </a:p>
          <a:p>
            <a:pPr marL="0" indent="0">
              <a:buNone/>
            </a:pPr>
            <a:r>
              <a:rPr lang="en-US" dirty="0" smtClean="0"/>
              <a:t> to play:</a:t>
            </a:r>
          </a:p>
          <a:p>
            <a:pPr marL="0" indent="0">
              <a:buNone/>
            </a:pPr>
            <a:r>
              <a:rPr lang="en-US" dirty="0" smtClean="0"/>
              <a:t>Sensitize </a:t>
            </a:r>
            <a:r>
              <a:rPr lang="en-US" dirty="0"/>
              <a:t>members of the Public on Electricity  Customer Bill of </a:t>
            </a:r>
            <a:r>
              <a:rPr lang="en-US" dirty="0" smtClean="0"/>
              <a:t>Rights by allocating more fund on publicity.</a:t>
            </a:r>
          </a:p>
          <a:p>
            <a:pPr marL="0" indent="0">
              <a:buNone/>
            </a:pPr>
            <a:r>
              <a:rPr lang="en-US" dirty="0" smtClean="0"/>
              <a:t>.</a:t>
            </a:r>
          </a:p>
          <a:p>
            <a:pPr marL="0" indent="0">
              <a:buNone/>
            </a:pPr>
            <a:r>
              <a:rPr lang="en-US" dirty="0"/>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0" y="3048000"/>
            <a:ext cx="2133600" cy="18859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Nerc</a:t>
            </a:r>
            <a:r>
              <a:rPr lang="en-US" dirty="0" smtClean="0"/>
              <a:t> Responsibilities cont’d</a:t>
            </a:r>
            <a:br>
              <a:rPr lang="en-US" dirty="0" smtClean="0"/>
            </a:br>
            <a:endParaRPr lang="en-US" dirty="0"/>
          </a:p>
        </p:txBody>
      </p:sp>
      <p:sp>
        <p:nvSpPr>
          <p:cNvPr id="3" name="Content Placeholder 2"/>
          <p:cNvSpPr>
            <a:spLocks noGrp="1"/>
          </p:cNvSpPr>
          <p:nvPr>
            <p:ph idx="1"/>
          </p:nvPr>
        </p:nvSpPr>
        <p:spPr>
          <a:xfrm>
            <a:off x="457200" y="2209800"/>
            <a:ext cx="6400800" cy="4114800"/>
          </a:xfrm>
        </p:spPr>
        <p:txBody>
          <a:bodyPr/>
          <a:lstStyle/>
          <a:p>
            <a:r>
              <a:rPr lang="en-US" dirty="0" smtClean="0"/>
              <a:t>Approve electricity prices  based on economic indices.</a:t>
            </a:r>
          </a:p>
          <a:p>
            <a:r>
              <a:rPr lang="en-US" dirty="0" smtClean="0"/>
              <a:t>Enforce regulatory laws to ensure adequate consumers protection.</a:t>
            </a:r>
          </a:p>
          <a:p>
            <a:r>
              <a:rPr lang="en-US" dirty="0" smtClean="0"/>
              <a:t>Affordable </a:t>
            </a:r>
            <a:r>
              <a:rPr lang="en-US" dirty="0"/>
              <a:t>pricing of electricity, products and services in order to recover investment</a:t>
            </a:r>
            <a:r>
              <a:rPr lang="en-US" dirty="0" smtClean="0"/>
              <a:t>.</a:t>
            </a:r>
          </a:p>
          <a:p>
            <a:r>
              <a:rPr lang="en-US" dirty="0" smtClean="0"/>
              <a:t>)Right </a:t>
            </a:r>
            <a:r>
              <a:rPr lang="en-US" dirty="0"/>
              <a:t>to protection of life and </a:t>
            </a:r>
            <a:r>
              <a:rPr lang="en-US" dirty="0" smtClean="0"/>
              <a:t>property through enforcement.</a:t>
            </a:r>
            <a:endParaRPr lang="en-US" dirty="0"/>
          </a:p>
          <a:p>
            <a:endParaRPr lang="en-US" dirty="0" smtClean="0"/>
          </a:p>
          <a:p>
            <a:endParaRPr lang="en-US" dirty="0" smtClean="0"/>
          </a:p>
          <a:p>
            <a:endParaRPr lang="en-US" dirty="0"/>
          </a:p>
          <a:p>
            <a:pPr marL="0" indent="0">
              <a:buNone/>
            </a:pPr>
            <a:endParaRPr lang="en-US" dirty="0"/>
          </a:p>
          <a:p>
            <a:endParaRPr lang="en-US" dirty="0" smtClean="0"/>
          </a:p>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2743200"/>
            <a:ext cx="1733550" cy="26384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buNone/>
            </a:pPr>
            <a:endParaRPr lang="en-US" dirty="0" smtClean="0"/>
          </a:p>
          <a:p>
            <a:r>
              <a:rPr lang="en-US" dirty="0" smtClean="0"/>
              <a:t> Create redress mechanism awareness  for both   Electricity Consumers and </a:t>
            </a:r>
            <a:r>
              <a:rPr lang="en-US" dirty="0" err="1" smtClean="0"/>
              <a:t>DisCOs</a:t>
            </a:r>
            <a:r>
              <a:rPr lang="en-US" dirty="0" smtClean="0"/>
              <a:t>.</a:t>
            </a:r>
          </a:p>
          <a:p>
            <a:r>
              <a:rPr lang="en-US" dirty="0" smtClean="0"/>
              <a:t>Education  and enlightenment of  Electricity  Customers  on their  Bill of  Rights and Responsibilities.</a:t>
            </a: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DisCos Responsibilities</a:t>
            </a:r>
            <a:endParaRPr lang="en-US" dirty="0"/>
          </a:p>
        </p:txBody>
      </p:sp>
      <p:sp>
        <p:nvSpPr>
          <p:cNvPr id="3" name="Content Placeholder 2"/>
          <p:cNvSpPr>
            <a:spLocks noGrp="1"/>
          </p:cNvSpPr>
          <p:nvPr>
            <p:ph idx="1"/>
          </p:nvPr>
        </p:nvSpPr>
        <p:spPr/>
        <p:txBody>
          <a:bodyPr>
            <a:normAutofit/>
          </a:bodyPr>
          <a:lstStyle/>
          <a:p>
            <a:r>
              <a:rPr lang="en-US" dirty="0" smtClean="0"/>
              <a:t>DisCos must comply with bill of rights  of customers as  spelt out ESPR Act  2005.</a:t>
            </a:r>
          </a:p>
          <a:p>
            <a:r>
              <a:rPr lang="en-US" dirty="0" err="1" smtClean="0"/>
              <a:t>Organise</a:t>
            </a:r>
            <a:r>
              <a:rPr lang="en-US" dirty="0" smtClean="0"/>
              <a:t> Town Hall Meeting, use radio , and other communication routes to empower customers  to know their rights for efficient power sector delivery.</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0600" y="4419600"/>
            <a:ext cx="3081867" cy="173355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4492896"/>
            <a:ext cx="2857500" cy="160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219200" y="2057400"/>
            <a:ext cx="7086600" cy="4483608"/>
          </a:xfrm>
        </p:spPr>
        <p:txBody>
          <a:bodyPr>
            <a:normAutofit/>
          </a:bodyPr>
          <a:lstStyle/>
          <a:p>
            <a:r>
              <a:rPr lang="en-US" dirty="0" smtClean="0"/>
              <a:t>Under Education and enlightenment  the DisCos owes the customers on the following responsibilities:</a:t>
            </a:r>
          </a:p>
          <a:p>
            <a:r>
              <a:rPr lang="en-US" dirty="0" smtClean="0"/>
              <a:t>(1 (2) right to be heard</a:t>
            </a:r>
          </a:p>
          <a:p>
            <a:r>
              <a:rPr lang="en-US" dirty="0" smtClean="0"/>
              <a:t>(3) right to seek redress</a:t>
            </a:r>
          </a:p>
          <a:p>
            <a:r>
              <a:rPr lang="en-US" dirty="0" smtClean="0"/>
              <a:t>(4) right to education on products and services  offered by DisCos</a:t>
            </a:r>
          </a:p>
          <a:p>
            <a:r>
              <a:rPr lang="en-US" dirty="0" smtClean="0"/>
              <a:t>Right to  steps in complaints resolution procedures.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895600"/>
            <a:ext cx="2952750" cy="1552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Customers </a:t>
            </a:r>
            <a:r>
              <a:rPr lang="en-US" dirty="0"/>
              <a:t>R</a:t>
            </a:r>
            <a:r>
              <a:rPr lang="en-US" dirty="0" smtClean="0"/>
              <a:t>ights</a:t>
            </a:r>
            <a:endParaRPr lang="en-US" dirty="0"/>
          </a:p>
        </p:txBody>
      </p:sp>
      <p:sp>
        <p:nvSpPr>
          <p:cNvPr id="3" name="Content Placeholder 2"/>
          <p:cNvSpPr>
            <a:spLocks noGrp="1"/>
          </p:cNvSpPr>
          <p:nvPr>
            <p:ph idx="1"/>
          </p:nvPr>
        </p:nvSpPr>
        <p:spPr>
          <a:xfrm>
            <a:off x="-228600" y="2819400"/>
            <a:ext cx="7162800" cy="3550920"/>
          </a:xfrm>
        </p:spPr>
        <p:txBody>
          <a:bodyPr/>
          <a:lstStyle/>
          <a:p>
            <a:r>
              <a:rPr lang="en-US" dirty="0" smtClean="0"/>
              <a:t> All customers have right to properly install functional meter.</a:t>
            </a:r>
          </a:p>
          <a:p>
            <a:r>
              <a:rPr lang="en-US" dirty="0" smtClean="0"/>
              <a:t>It is the customers right to be notified in writing  ahead  of any disconnection  of electricity.</a:t>
            </a:r>
          </a:p>
          <a:p>
            <a:r>
              <a:rPr lang="en-US" dirty="0" smtClean="0"/>
              <a:t> Customers need to  be properly educated on how to seek redress </a:t>
            </a:r>
            <a:r>
              <a:rPr lang="en-US" dirty="0" err="1" smtClean="0"/>
              <a:t>ie</a:t>
            </a:r>
            <a:r>
              <a:rPr lang="en-US" dirty="0" smtClean="0"/>
              <a:t>  From  Customer Compliant Unit, Forum  Office and NERC.</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3505200"/>
            <a:ext cx="2590800" cy="152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Customers Right Cont’d</a:t>
            </a:r>
            <a:endParaRPr lang="en-US" dirty="0"/>
          </a:p>
        </p:txBody>
      </p:sp>
      <p:sp>
        <p:nvSpPr>
          <p:cNvPr id="3" name="Content Placeholder 2"/>
          <p:cNvSpPr>
            <a:spLocks noGrp="1"/>
          </p:cNvSpPr>
          <p:nvPr>
            <p:ph idx="1"/>
          </p:nvPr>
        </p:nvSpPr>
        <p:spPr/>
        <p:txBody>
          <a:bodyPr>
            <a:normAutofit/>
          </a:bodyPr>
          <a:lstStyle/>
          <a:p>
            <a:r>
              <a:rPr lang="en-US" dirty="0" smtClean="0"/>
              <a:t>.</a:t>
            </a:r>
          </a:p>
          <a:p>
            <a:r>
              <a:rPr lang="en-US" dirty="0" smtClean="0"/>
              <a:t>It is the customers rights to context controversial electricity bill</a:t>
            </a:r>
          </a:p>
          <a:p>
            <a:r>
              <a:rPr lang="en-US" dirty="0" smtClean="0"/>
              <a:t> All customer have the right to complaint and to prompt investigation of complaint.</a:t>
            </a:r>
          </a:p>
          <a:p>
            <a:pPr marL="0" indent="0">
              <a:buNone/>
            </a:pPr>
            <a:endParaRPr lang="en-US" dirty="0" smtClean="0"/>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4335485"/>
            <a:ext cx="2343150" cy="19526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All customers have the rights to transparent billing.</a:t>
            </a:r>
          </a:p>
          <a:p>
            <a:r>
              <a:rPr lang="en-US" dirty="0"/>
              <a:t>All Customers have the right to refund when over billed</a:t>
            </a:r>
            <a:endParaRPr lang="en-US" i="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3276600"/>
            <a:ext cx="1838325" cy="2495550"/>
          </a:xfrm>
          <a:prstGeom prst="rect">
            <a:avLst/>
          </a:prstGeom>
        </p:spPr>
      </p:pic>
    </p:spTree>
    <p:extLst>
      <p:ext uri="{BB962C8B-B14F-4D97-AF65-F5344CB8AC3E}">
        <p14:creationId xmlns:p14="http://schemas.microsoft.com/office/powerpoint/2010/main" val="331805098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Customers Responsibilities</a:t>
            </a:r>
            <a:endParaRPr lang="en-US" dirty="0"/>
          </a:p>
        </p:txBody>
      </p:sp>
      <p:sp>
        <p:nvSpPr>
          <p:cNvPr id="3" name="Content Placeholder 2"/>
          <p:cNvSpPr>
            <a:spLocks noGrp="1"/>
          </p:cNvSpPr>
          <p:nvPr>
            <p:ph idx="1"/>
          </p:nvPr>
        </p:nvSpPr>
        <p:spPr>
          <a:xfrm>
            <a:off x="228600" y="1981200"/>
            <a:ext cx="6934200" cy="3962400"/>
          </a:xfrm>
        </p:spPr>
        <p:txBody>
          <a:bodyPr>
            <a:normAutofit fontScale="92500" lnSpcReduction="10000"/>
          </a:bodyPr>
          <a:lstStyle/>
          <a:p>
            <a:r>
              <a:rPr lang="en-US" dirty="0"/>
              <a:t>It is the customers Obligation to pay their bills when due and </a:t>
            </a:r>
            <a:r>
              <a:rPr lang="en-US" dirty="0" smtClean="0"/>
              <a:t>time.</a:t>
            </a:r>
          </a:p>
          <a:p>
            <a:r>
              <a:rPr lang="en-US" dirty="0"/>
              <a:t> </a:t>
            </a:r>
            <a:r>
              <a:rPr lang="en-US" dirty="0" smtClean="0"/>
              <a:t>It  the customers responsibility to report of any electricity  faults and hazards within the jurisdiction of the Electricity Provider (DisCos). </a:t>
            </a:r>
          </a:p>
          <a:p>
            <a:r>
              <a:rPr lang="en-US" dirty="0"/>
              <a:t> </a:t>
            </a:r>
            <a:r>
              <a:rPr lang="en-US" dirty="0" smtClean="0"/>
              <a:t> All customers aware to be aware  that meter-bypass attract a huge penalty of (N100,000.00)Hundred  Thousand Naira.</a:t>
            </a:r>
          </a:p>
          <a:p>
            <a:r>
              <a:rPr lang="en-US" dirty="0" smtClean="0"/>
              <a:t>All customers are not to tamper with Discos' properties.  </a:t>
            </a:r>
          </a:p>
          <a:p>
            <a:endParaRPr lang="en-US" dirty="0"/>
          </a:p>
        </p:txBody>
      </p:sp>
    </p:spTree>
    <p:extLst>
      <p:ext uri="{BB962C8B-B14F-4D97-AF65-F5344CB8AC3E}">
        <p14:creationId xmlns:p14="http://schemas.microsoft.com/office/powerpoint/2010/main" val="395127133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153400" cy="1542288"/>
          </a:xfrm>
        </p:spPr>
        <p:txBody>
          <a:bodyPr>
            <a:normAutofit fontScale="90000"/>
          </a:bodyPr>
          <a:lstStyle/>
          <a:p>
            <a:r>
              <a:rPr lang="en-US" sz="5400" dirty="0" smtClean="0"/>
              <a:t> </a:t>
            </a:r>
            <a:br>
              <a:rPr lang="en-US" sz="5400" dirty="0" smtClean="0"/>
            </a:br>
            <a:r>
              <a:rPr lang="en-US" sz="5400" dirty="0" smtClean="0"/>
              <a:t/>
            </a:r>
            <a:br>
              <a:rPr lang="en-US" sz="5400" dirty="0" smtClean="0"/>
            </a:br>
            <a:r>
              <a:rPr lang="en-US" sz="5400" dirty="0" smtClean="0"/>
              <a:t/>
            </a:r>
            <a:br>
              <a:rPr lang="en-US" sz="5400" dirty="0" smtClean="0"/>
            </a:br>
            <a:r>
              <a:rPr lang="en-US" sz="5400" dirty="0" smtClean="0"/>
              <a:t/>
            </a:r>
            <a:br>
              <a:rPr lang="en-US" sz="5400" dirty="0" smtClean="0"/>
            </a:br>
            <a:r>
              <a:rPr lang="en-US" sz="5400" dirty="0" smtClean="0"/>
              <a:t>  </a:t>
            </a:r>
            <a:br>
              <a:rPr lang="en-US" sz="5400" dirty="0" smtClean="0"/>
            </a:br>
            <a:r>
              <a:rPr lang="en-US" sz="5400" dirty="0" smtClean="0"/>
              <a:t/>
            </a:r>
            <a:br>
              <a:rPr lang="en-US" sz="5400" dirty="0" smtClean="0"/>
            </a:br>
            <a:r>
              <a:rPr lang="en-US" sz="5400" dirty="0" smtClean="0"/>
              <a:t/>
            </a:r>
            <a:br>
              <a:rPr lang="en-US" sz="5400" dirty="0" smtClean="0"/>
            </a:br>
            <a:r>
              <a:rPr lang="en-US" sz="5400" dirty="0" smtClean="0"/>
              <a:t/>
            </a:r>
            <a:br>
              <a:rPr lang="en-US" sz="5400" dirty="0" smtClean="0"/>
            </a:br>
            <a:r>
              <a:rPr lang="en-US" sz="5400" dirty="0" smtClean="0"/>
              <a:t/>
            </a:r>
            <a:br>
              <a:rPr lang="en-US" sz="5400" dirty="0" smtClean="0"/>
            </a:br>
            <a:r>
              <a:rPr lang="en-US" sz="5400" dirty="0" smtClean="0"/>
              <a:t/>
            </a:r>
            <a:br>
              <a:rPr lang="en-US" sz="5400" dirty="0" smtClean="0"/>
            </a:br>
            <a:r>
              <a:rPr lang="en-US" sz="5400" dirty="0" smtClean="0"/>
              <a:t>Why engaging an Advocacy </a:t>
            </a:r>
            <a:r>
              <a:rPr lang="en-US" sz="5400" dirty="0"/>
              <a:t>C</a:t>
            </a:r>
            <a:r>
              <a:rPr lang="en-US" sz="5400" dirty="0" smtClean="0"/>
              <a:t>onsultant ?  </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smtClean="0"/>
              <a:t> Consultant are hired to free up time to enable hired workers to concentrate on basic core business.</a:t>
            </a:r>
          </a:p>
          <a:p>
            <a:pPr>
              <a:buFont typeface="Arial" panose="020B0604020202020204" pitchFamily="34" charset="0"/>
              <a:buChar char="•"/>
            </a:pPr>
            <a:r>
              <a:rPr lang="en-US" dirty="0" smtClean="0"/>
              <a:t> When problem appears to close for employees to understand it on all ramification, external </a:t>
            </a:r>
            <a:r>
              <a:rPr lang="en-US" dirty="0" smtClean="0"/>
              <a:t>consultant </a:t>
            </a:r>
            <a:r>
              <a:rPr lang="en-US" dirty="0" smtClean="0"/>
              <a:t>may  make a difference  by  getting to the route  of the problem.</a:t>
            </a:r>
          </a:p>
          <a:p>
            <a:pPr>
              <a:buFont typeface="Arial" panose="020B0604020202020204" pitchFamily="34" charset="0"/>
              <a:buChar char="•"/>
            </a:pPr>
            <a:r>
              <a:rPr lang="en-US" dirty="0" smtClean="0"/>
              <a:t> External consultant will go extra mile in solving the problem as stated in terms of reference(TOR).</a:t>
            </a:r>
          </a:p>
          <a:p>
            <a:pPr>
              <a:buFont typeface="Arial" panose="020B0604020202020204" pitchFamily="34" charset="0"/>
              <a:buChar char="•"/>
            </a:pPr>
            <a:r>
              <a:rPr lang="en-US" dirty="0"/>
              <a:t> </a:t>
            </a:r>
            <a:r>
              <a:rPr lang="en-US" dirty="0" smtClean="0"/>
              <a:t>Specialist knowledge will minimize stress as well reduce time in proffering solution.</a:t>
            </a:r>
          </a:p>
          <a:p>
            <a:pPr>
              <a:buNone/>
            </a:pPr>
            <a:endParaRPr lang="en-US" dirty="0" smtClean="0"/>
          </a:p>
          <a:p>
            <a:pPr>
              <a:buNone/>
            </a:pPr>
            <a:endParaRPr lang="en-US" dirty="0" smtClean="0"/>
          </a:p>
          <a:p>
            <a:pPr>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a:xfrm>
            <a:off x="457200" y="1847088"/>
            <a:ext cx="8686800" cy="4782312"/>
          </a:xfrm>
        </p:spPr>
        <p:txBody>
          <a:bodyPr>
            <a:normAutofit fontScale="25000" lnSpcReduction="20000"/>
          </a:bodyPr>
          <a:lstStyle/>
          <a:p>
            <a:r>
              <a:rPr lang="en-US" sz="7200" dirty="0" smtClean="0"/>
              <a:t> In conclusion, it is discernable from our presentation that the major problem in the Electricity Delivery Service Market is basically  ignorance among the end-users.</a:t>
            </a:r>
          </a:p>
          <a:p>
            <a:endParaRPr lang="en-US" sz="5500" dirty="0" smtClean="0"/>
          </a:p>
          <a:p>
            <a:r>
              <a:rPr lang="en-US" sz="7200" dirty="0" smtClean="0"/>
              <a:t>The Regulator and DisCos are to do more in the above to close this gap of enlightenment caused by ignorance.</a:t>
            </a:r>
          </a:p>
          <a:p>
            <a:endParaRPr lang="en-US" sz="5500" dirty="0"/>
          </a:p>
          <a:p>
            <a:r>
              <a:rPr lang="en-US" sz="7200" dirty="0" smtClean="0"/>
              <a:t>According to Mike </a:t>
            </a:r>
            <a:r>
              <a:rPr lang="en-US" sz="7200" dirty="0" err="1" smtClean="0"/>
              <a:t>Murduck</a:t>
            </a:r>
            <a:r>
              <a:rPr lang="en-US" sz="7200" dirty="0" smtClean="0"/>
              <a:t>,” the eyes that look are many, but the one that see are few”.</a:t>
            </a:r>
          </a:p>
          <a:p>
            <a:pPr marL="0" indent="0">
              <a:buNone/>
            </a:pPr>
            <a:r>
              <a:rPr lang="en-US" sz="7200" dirty="0" smtClean="0"/>
              <a:t> Our Advocacy Group have identified the need for  robust and pervasive education , enlightenment and strong advocacy to address the issues of electricity customers rights and responsibilities.</a:t>
            </a:r>
          </a:p>
          <a:p>
            <a:pPr marL="0" indent="0">
              <a:buNone/>
            </a:pPr>
            <a:endParaRPr lang="en-US" sz="5500" dirty="0"/>
          </a:p>
          <a:p>
            <a:pPr marL="0" indent="0">
              <a:buNone/>
            </a:pPr>
            <a:r>
              <a:rPr lang="en-US" sz="7200" dirty="0" smtClean="0"/>
              <a:t>We are prepared to collaborate with stakeholders to bring about the deserved  service improvement and create a win – win situation for all stakeholder within  the Nigerian Electricity Market Value Chain; to justify the objectives of the Power Sector </a:t>
            </a:r>
            <a:r>
              <a:rPr lang="en-US" sz="7200" dirty="0" err="1" smtClean="0"/>
              <a:t>Privatisation</a:t>
            </a:r>
            <a:r>
              <a:rPr lang="en-US" sz="7200" dirty="0" smtClean="0"/>
              <a:t> </a:t>
            </a:r>
            <a:r>
              <a:rPr lang="en-US" sz="5500" dirty="0" smtClean="0"/>
              <a:t>.</a:t>
            </a:r>
          </a:p>
          <a:p>
            <a:pPr marL="0" indent="0">
              <a:buNone/>
            </a:pPr>
            <a:endParaRPr lang="en-US" sz="5500" dirty="0" smtClean="0"/>
          </a:p>
          <a:p>
            <a:endParaRPr lang="en-US" dirty="0" smtClean="0"/>
          </a:p>
          <a:p>
            <a:endParaRPr lang="en-US" dirty="0"/>
          </a:p>
          <a:p>
            <a:endParaRPr lang="en-US" dirty="0" smtClean="0"/>
          </a:p>
          <a:p>
            <a:endParaRPr lang="en-US" dirty="0"/>
          </a:p>
          <a:p>
            <a:endParaRPr lang="en-US" dirty="0" smtClean="0"/>
          </a:p>
          <a:p>
            <a:pPr marL="0" indent="0">
              <a:buNone/>
            </a:pPr>
            <a:r>
              <a:rPr lang="en-US"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buNone/>
            </a:pPr>
            <a:r>
              <a:rPr lang="en-US" dirty="0" smtClean="0"/>
              <a:t>         </a:t>
            </a:r>
            <a:r>
              <a:rPr lang="en-US" sz="4800" b="1" dirty="0" smtClean="0">
                <a:latin typeface="+mj-lt"/>
              </a:rPr>
              <a:t>Thank you  for listening</a:t>
            </a:r>
          </a:p>
          <a:p>
            <a:pPr marL="0" indent="0">
              <a:buNone/>
            </a:pPr>
            <a:r>
              <a:rPr lang="en-US" sz="4800" b="1" dirty="0">
                <a:latin typeface="+mj-lt"/>
              </a:rPr>
              <a:t> </a:t>
            </a:r>
          </a:p>
        </p:txBody>
      </p:sp>
    </p:spTree>
    <p:extLst>
      <p:ext uri="{BB962C8B-B14F-4D97-AF65-F5344CB8AC3E}">
        <p14:creationId xmlns:p14="http://schemas.microsoft.com/office/powerpoint/2010/main" val="336816699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854</TotalTime>
  <Words>1204</Words>
  <Application>Microsoft Office PowerPoint</Application>
  <PresentationFormat>On-screen Show (4:3)</PresentationFormat>
  <Paragraphs>138</Paragraphs>
  <Slides>22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Constantia</vt:lpstr>
      <vt:lpstr>Wingdings 2</vt:lpstr>
      <vt:lpstr>Flow</vt:lpstr>
      <vt:lpstr>PowerPoint Presentation</vt:lpstr>
      <vt:lpstr>Introduction</vt:lpstr>
      <vt:lpstr>Introduction Cont’d</vt:lpstr>
      <vt:lpstr>Objectives of the Presentation </vt:lpstr>
      <vt:lpstr>What is advocacy?</vt:lpstr>
      <vt:lpstr> Purpose of  our Advocacy</vt:lpstr>
      <vt:lpstr> Purpose of our advocacy Cont’d</vt:lpstr>
      <vt:lpstr>Why embarking on  Advocacy  Cont’d</vt:lpstr>
      <vt:lpstr>Channels of Advocacy</vt:lpstr>
      <vt:lpstr> Stakeholders Responsibilities</vt:lpstr>
      <vt:lpstr>Nerc Responsibilities</vt:lpstr>
      <vt:lpstr>Nerc Responsibilities cont’d </vt:lpstr>
      <vt:lpstr>PowerPoint Presentation</vt:lpstr>
      <vt:lpstr> DisCos Responsibilities</vt:lpstr>
      <vt:lpstr>PowerPoint Presentation</vt:lpstr>
      <vt:lpstr>Customers Rights</vt:lpstr>
      <vt:lpstr>Customers Right Cont’d</vt:lpstr>
      <vt:lpstr>PowerPoint Presentation</vt:lpstr>
      <vt:lpstr>Customers Responsibilities</vt:lpstr>
      <vt:lpstr>             Why engaging an Advocacy Consultant ?  </vt:lpstr>
      <vt:lpstr>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131</cp:revision>
  <dcterms:created xsi:type="dcterms:W3CDTF">2018-06-10T05:35:06Z</dcterms:created>
  <dcterms:modified xsi:type="dcterms:W3CDTF">2018-06-18T18:21:38Z</dcterms:modified>
</cp:coreProperties>
</file>