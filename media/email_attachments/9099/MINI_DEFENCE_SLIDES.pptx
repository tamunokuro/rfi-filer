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6" r:id="rId2"/>
    <p:sldId id="256" r:id="rId3"/>
    <p:sldId id="265" r:id="rId4"/>
    <p:sldId id="257" r:id="rId5"/>
    <p:sldId id="258" r:id="rId6"/>
    <p:sldId id="267" r:id="rId7"/>
    <p:sldId id="259" r:id="rId8"/>
    <p:sldId id="268" r:id="rId9"/>
    <p:sldId id="273" r:id="rId10"/>
    <p:sldId id="260" r:id="rId11"/>
    <p:sldId id="269" r:id="rId12"/>
    <p:sldId id="263" r:id="rId13"/>
    <p:sldId id="262" r:id="rId14"/>
    <p:sldId id="261" r:id="rId15"/>
    <p:sldId id="264" r:id="rId16"/>
    <p:sldId id="270" r:id="rId17"/>
    <p:sldId id="271" r:id="rId18"/>
    <p:sldId id="272"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1203" autoAdjust="0"/>
  </p:normalViewPr>
  <p:slideViewPr>
    <p:cSldViewPr snapToGrid="0">
      <p:cViewPr>
        <p:scale>
          <a:sx n="71" d="100"/>
          <a:sy n="71" d="100"/>
        </p:scale>
        <p:origin x="696" y="-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ctrTitle"/>
          </p:nvPr>
        </p:nvSpPr>
        <p:spPr>
          <a:xfrm>
            <a:off x="1371600" y="1803405"/>
            <a:ext cx="9448800" cy="1825096"/>
          </a:xfrm>
        </p:spPr>
        <p:txBody>
          <a:bodyPr anchor="b">
            <a:normAutofit/>
          </a:bodyPr>
          <a:lstStyle>
            <a:lvl1pPr algn="l">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371600" y="3632201"/>
            <a:ext cx="9448800" cy="685800"/>
          </a:xfrm>
        </p:spPr>
        <p:txBody>
          <a:bodyPr>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09561" y="4314328"/>
            <a:ext cx="2910840" cy="374642"/>
          </a:xfrm>
        </p:spPr>
        <p:txBody>
          <a:bodyPr/>
          <a:lstStyle/>
          <a:p>
            <a:fld id="{88D9C5CB-C73E-46F1-A10C-91E74B35B14A}" type="datetimeFigureOut">
              <a:rPr lang="en-US" smtClean="0"/>
              <a:t>1/21/2020</a:t>
            </a:fld>
            <a:endParaRPr lang="en-US"/>
          </a:p>
        </p:txBody>
      </p:sp>
      <p:sp>
        <p:nvSpPr>
          <p:cNvPr id="5" name="Footer Placeholder 4"/>
          <p:cNvSpPr>
            <a:spLocks noGrp="1"/>
          </p:cNvSpPr>
          <p:nvPr>
            <p:ph type="ftr" sz="quarter" idx="11"/>
          </p:nvPr>
        </p:nvSpPr>
        <p:spPr>
          <a:xfrm>
            <a:off x="1371600" y="4323845"/>
            <a:ext cx="6400800" cy="365125"/>
          </a:xfrm>
        </p:spPr>
        <p:txBody>
          <a:bodyPr/>
          <a:lstStyle/>
          <a:p>
            <a:endParaRPr lang="en-US"/>
          </a:p>
        </p:txBody>
      </p:sp>
      <p:sp>
        <p:nvSpPr>
          <p:cNvPr id="6" name="Slide Number Placeholder 5"/>
          <p:cNvSpPr>
            <a:spLocks noGrp="1"/>
          </p:cNvSpPr>
          <p:nvPr>
            <p:ph type="sldNum" sz="quarter" idx="12"/>
          </p:nvPr>
        </p:nvSpPr>
        <p:spPr>
          <a:xfrm>
            <a:off x="8077200" y="1430866"/>
            <a:ext cx="2743200" cy="365125"/>
          </a:xfrm>
        </p:spPr>
        <p:txBody>
          <a:bodyPr/>
          <a:lstStyle/>
          <a:p>
            <a:fld id="{80346A53-A52B-4722-B605-5E78BA4FEAFB}" type="slidenum">
              <a:rPr lang="en-US" smtClean="0"/>
              <a:t>‹#›</a:t>
            </a:fld>
            <a:endParaRPr lang="en-US"/>
          </a:p>
        </p:txBody>
      </p:sp>
    </p:spTree>
    <p:extLst>
      <p:ext uri="{BB962C8B-B14F-4D97-AF65-F5344CB8AC3E}">
        <p14:creationId xmlns:p14="http://schemas.microsoft.com/office/powerpoint/2010/main" val="675504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8D9C5CB-C73E-46F1-A10C-91E74B35B14A}" type="datetimeFigureOut">
              <a:rPr lang="en-US" smtClean="0"/>
              <a:t>1/21/2020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346A53-A52B-4722-B605-5E78BA4FEAFB}" type="slidenum">
              <a:rPr lang="en-US" smtClean="0"/>
              <a:t>‹#›</a:t>
            </a:fld>
            <a:endParaRPr lang="en-US"/>
          </a:p>
        </p:txBody>
      </p:sp>
    </p:spTree>
    <p:extLst>
      <p:ext uri="{BB962C8B-B14F-4D97-AF65-F5344CB8AC3E}">
        <p14:creationId xmlns:p14="http://schemas.microsoft.com/office/powerpoint/2010/main" val="34808378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3"/>
            <a:ext cx="10820399" cy="2801935"/>
          </a:xfrm>
        </p:spPr>
        <p:txBody>
          <a:bodyPr anchor="b">
            <a:normAutofit/>
          </a:bodyPr>
          <a:lstStyle>
            <a:lvl1pPr algn="r">
              <a:defRPr sz="4000"/>
            </a:lvl1pPr>
          </a:lstStyle>
          <a:p>
            <a:r>
              <a:rPr lang="en-US" smtClean="0"/>
              <a:t>Click to edit Master title style</a:t>
            </a:r>
            <a:endParaRPr lang="en-US" dirty="0"/>
          </a:p>
        </p:txBody>
      </p:sp>
      <p:sp>
        <p:nvSpPr>
          <p:cNvPr id="3" name="Text Placeholder 2"/>
          <p:cNvSpPr>
            <a:spLocks noGrp="1"/>
          </p:cNvSpPr>
          <p:nvPr>
            <p:ph type="body" idx="1"/>
          </p:nvPr>
        </p:nvSpPr>
        <p:spPr>
          <a:xfrm>
            <a:off x="1024467" y="3641725"/>
            <a:ext cx="10490200" cy="955675"/>
          </a:xfrm>
        </p:spPr>
        <p:txBody>
          <a:bodyPr>
            <a:normAutofit/>
          </a:bodyPr>
          <a:lstStyle>
            <a:lvl1pPr marL="0" indent="0" algn="r">
              <a:buNone/>
              <a:defRPr sz="22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7814452" y="381000"/>
            <a:ext cx="2910840" cy="365125"/>
          </a:xfrm>
        </p:spPr>
        <p:txBody>
          <a:bodyPr/>
          <a:lstStyle>
            <a:lvl1pPr algn="r">
              <a:defRPr/>
            </a:lvl1pPr>
          </a:lstStyle>
          <a:p>
            <a:fld id="{88D9C5CB-C73E-46F1-A10C-91E74B35B14A}" type="datetimeFigureOut">
              <a:rPr lang="en-US" smtClean="0"/>
              <a:t>1/21/2020</a:t>
            </a:fld>
            <a:endParaRPr lang="en-US"/>
          </a:p>
        </p:txBody>
      </p:sp>
      <p:sp>
        <p:nvSpPr>
          <p:cNvPr id="5" name="Footer Placeholder 4"/>
          <p:cNvSpPr>
            <a:spLocks noGrp="1"/>
          </p:cNvSpPr>
          <p:nvPr>
            <p:ph type="ftr" sz="quarter" idx="11"/>
          </p:nvPr>
        </p:nvSpPr>
        <p:spPr>
          <a:xfrm>
            <a:off x="685800" y="381001"/>
            <a:ext cx="6991492" cy="36406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80346A53-A52B-4722-B605-5E78BA4FEAFB}" type="slidenum">
              <a:rPr lang="en-US" smtClean="0"/>
              <a:t>‹#›</a:t>
            </a:fld>
            <a:endParaRPr lang="en-US"/>
          </a:p>
        </p:txBody>
      </p:sp>
    </p:spTree>
    <p:extLst>
      <p:ext uri="{BB962C8B-B14F-4D97-AF65-F5344CB8AC3E}">
        <p14:creationId xmlns:p14="http://schemas.microsoft.com/office/powerpoint/2010/main" val="9323339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800" y="2194559"/>
            <a:ext cx="5334000" cy="40241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194559"/>
            <a:ext cx="5334000" cy="40241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8D9C5CB-C73E-46F1-A10C-91E74B35B14A}" type="datetimeFigureOut">
              <a:rPr lang="en-US" smtClean="0"/>
              <a:t>1/21/2020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346A53-A52B-4722-B605-5E78BA4FEAFB}" type="slidenum">
              <a:rPr lang="en-US" smtClean="0"/>
              <a:t>‹#›</a:t>
            </a:fld>
            <a:endParaRPr lang="en-US"/>
          </a:p>
        </p:txBody>
      </p:sp>
    </p:spTree>
    <p:extLst>
      <p:ext uri="{BB962C8B-B14F-4D97-AF65-F5344CB8AC3E}">
        <p14:creationId xmlns:p14="http://schemas.microsoft.com/office/powerpoint/2010/main" val="3976021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895600" y="762000"/>
            <a:ext cx="8610600" cy="1295400"/>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914409" y="2183802"/>
            <a:ext cx="5079991"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5800" y="3132666"/>
            <a:ext cx="5311775" cy="308601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0" y="2183802"/>
            <a:ext cx="5105400" cy="823912"/>
          </a:xfrm>
        </p:spPr>
        <p:txBody>
          <a:bodyPr anchor="b">
            <a:norm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3132666"/>
            <a:ext cx="5334000" cy="308601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8D9C5CB-C73E-46F1-A10C-91E74B35B14A}" type="datetimeFigureOut">
              <a:rPr lang="en-US" smtClean="0"/>
              <a:t>1/21/2020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0346A53-A52B-4722-B605-5E78BA4FEAFB}" type="slidenum">
              <a:rPr lang="en-US" smtClean="0"/>
              <a:t>‹#›</a:t>
            </a:fld>
            <a:endParaRPr lang="en-US"/>
          </a:p>
        </p:txBody>
      </p:sp>
    </p:spTree>
    <p:extLst>
      <p:ext uri="{BB962C8B-B14F-4D97-AF65-F5344CB8AC3E}">
        <p14:creationId xmlns:p14="http://schemas.microsoft.com/office/powerpoint/2010/main" val="2254330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8D9C5CB-C73E-46F1-A10C-91E74B35B14A}" type="datetimeFigureOut">
              <a:rPr lang="en-US" smtClean="0"/>
              <a:t>1/21/2020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346A53-A52B-4722-B605-5E78BA4FEAFB}" type="slidenum">
              <a:rPr lang="en-US" smtClean="0"/>
              <a:t>‹#›</a:t>
            </a:fld>
            <a:endParaRPr lang="en-US"/>
          </a:p>
        </p:txBody>
      </p:sp>
    </p:spTree>
    <p:extLst>
      <p:ext uri="{BB962C8B-B14F-4D97-AF65-F5344CB8AC3E}">
        <p14:creationId xmlns:p14="http://schemas.microsoft.com/office/powerpoint/2010/main" val="4290450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D9C5CB-C73E-46F1-A10C-91E74B35B14A}" type="datetimeFigureOut">
              <a:rPr lang="en-US" smtClean="0"/>
              <a:t>1/21/2020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0346A53-A52B-4722-B605-5E78BA4FEAFB}" type="slidenum">
              <a:rPr lang="en-US" smtClean="0"/>
              <a:t>‹#›</a:t>
            </a:fld>
            <a:endParaRPr lang="en-US"/>
          </a:p>
        </p:txBody>
      </p:sp>
    </p:spTree>
    <p:extLst>
      <p:ext uri="{BB962C8B-B14F-4D97-AF65-F5344CB8AC3E}">
        <p14:creationId xmlns:p14="http://schemas.microsoft.com/office/powerpoint/2010/main" val="3971850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4114800" cy="1600200"/>
          </a:xfrm>
        </p:spPr>
        <p:txBody>
          <a:bodyPr anchor="b"/>
          <a:lstStyle>
            <a:lvl1pPr algn="l">
              <a:defRPr sz="3200"/>
            </a:lvl1pPr>
          </a:lstStyle>
          <a:p>
            <a:r>
              <a:rPr lang="en-US" smtClean="0"/>
              <a:t>Click to edit Master title style</a:t>
            </a:r>
            <a:endParaRPr lang="en-US" dirty="0"/>
          </a:p>
        </p:txBody>
      </p:sp>
      <p:sp>
        <p:nvSpPr>
          <p:cNvPr id="3" name="Content Placeholder 2"/>
          <p:cNvSpPr>
            <a:spLocks noGrp="1"/>
          </p:cNvSpPr>
          <p:nvPr>
            <p:ph idx="1"/>
          </p:nvPr>
        </p:nvSpPr>
        <p:spPr>
          <a:xfrm>
            <a:off x="4995582" y="746759"/>
            <a:ext cx="6510618" cy="5471925"/>
          </a:xfrm>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800" y="3124199"/>
            <a:ext cx="411480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8D9C5CB-C73E-46F1-A10C-91E74B35B14A}" type="datetimeFigureOut">
              <a:rPr lang="en-US" smtClean="0"/>
              <a:t>1/21/2020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346A53-A52B-4722-B605-5E78BA4FEAFB}" type="slidenum">
              <a:rPr lang="en-US" smtClean="0"/>
              <a:t>‹#›</a:t>
            </a:fld>
            <a:endParaRPr lang="en-US"/>
          </a:p>
        </p:txBody>
      </p:sp>
    </p:spTree>
    <p:extLst>
      <p:ext uri="{BB962C8B-B14F-4D97-AF65-F5344CB8AC3E}">
        <p14:creationId xmlns:p14="http://schemas.microsoft.com/office/powerpoint/2010/main" val="9781649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0"/>
            <a:ext cx="6873240" cy="1600200"/>
          </a:xfrm>
        </p:spPr>
        <p:txBody>
          <a:bodyPr anchor="b"/>
          <a:lstStyle>
            <a:lvl1pPr algn="l">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861238" y="751241"/>
            <a:ext cx="3644962" cy="5467443"/>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5800" y="3124199"/>
            <a:ext cx="6873240" cy="309448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8D9C5CB-C73E-46F1-A10C-91E74B35B14A}" type="datetimeFigureOut">
              <a:rPr lang="en-US" smtClean="0"/>
              <a:t>1/21/2020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346A53-A52B-4722-B605-5E78BA4FEAFB}" type="slidenum">
              <a:rPr lang="en-US" smtClean="0"/>
              <a:t>‹#›</a:t>
            </a:fld>
            <a:endParaRPr lang="en-US"/>
          </a:p>
        </p:txBody>
      </p:sp>
    </p:spTree>
    <p:extLst>
      <p:ext uri="{BB962C8B-B14F-4D97-AF65-F5344CB8AC3E}">
        <p14:creationId xmlns:p14="http://schemas.microsoft.com/office/powerpoint/2010/main" val="6683670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777" y="4697360"/>
            <a:ext cx="10822034" cy="819355"/>
          </a:xfrm>
        </p:spPr>
        <p:txBody>
          <a:bodyPr anchor="b"/>
          <a:lstStyle>
            <a:lvl1pPr algn="l">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81727" y="941439"/>
            <a:ext cx="10821840" cy="3478161"/>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5800" y="5516715"/>
            <a:ext cx="10820400" cy="701969"/>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8D9C5CB-C73E-46F1-A10C-91E74B35B14A}" type="datetimeFigureOut">
              <a:rPr lang="en-US" smtClean="0"/>
              <a:t>1/21/2020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0346A53-A52B-4722-B605-5E78BA4FEAFB}" type="slidenum">
              <a:rPr lang="en-US" smtClean="0"/>
              <a:t>‹#›</a:t>
            </a:fld>
            <a:endParaRPr lang="en-US"/>
          </a:p>
        </p:txBody>
      </p:sp>
    </p:spTree>
    <p:extLst>
      <p:ext uri="{BB962C8B-B14F-4D97-AF65-F5344CB8AC3E}">
        <p14:creationId xmlns:p14="http://schemas.microsoft.com/office/powerpoint/2010/main" val="22782441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685800" y="753532"/>
            <a:ext cx="10820400" cy="2802467"/>
          </a:xfrm>
        </p:spPr>
        <p:txBody>
          <a:bodyPr anchor="ctr"/>
          <a:lstStyle>
            <a:lvl1pPr algn="l">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1024467" y="3649133"/>
            <a:ext cx="10130516" cy="99906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88D9C5CB-C73E-46F1-A10C-91E74B35B14A}" type="datetimeFigureOut">
              <a:rPr lang="en-US" smtClean="0"/>
              <a:t>1/21/2020</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80346A53-A52B-4722-B605-5E78BA4FEAFB}" type="slidenum">
              <a:rPr lang="en-US" smtClean="0"/>
              <a:t>‹#›</a:t>
            </a:fld>
            <a:endParaRPr lang="en-US"/>
          </a:p>
        </p:txBody>
      </p:sp>
    </p:spTree>
    <p:extLst>
      <p:ext uri="{BB962C8B-B14F-4D97-AF65-F5344CB8AC3E}">
        <p14:creationId xmlns:p14="http://schemas.microsoft.com/office/powerpoint/2010/main" val="27346418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pic>
        <p:nvPicPr>
          <p:cNvPr id="13" name="Picture 12"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67" y="753533"/>
            <a:ext cx="10151533" cy="2604495"/>
          </a:xfrm>
        </p:spPr>
        <p:txBody>
          <a:bodyPr anchor="ctr"/>
          <a:lstStyle>
            <a:lvl1pPr algn="l">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303865" y="3365556"/>
            <a:ext cx="9592736" cy="444443"/>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1024467" y="3959862"/>
            <a:ext cx="10151533" cy="679871"/>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7814452" y="381000"/>
            <a:ext cx="2910840" cy="365125"/>
          </a:xfrm>
        </p:spPr>
        <p:txBody>
          <a:bodyPr/>
          <a:lstStyle>
            <a:lvl1pPr algn="r">
              <a:defRPr/>
            </a:lvl1pPr>
          </a:lstStyle>
          <a:p>
            <a:fld id="{88D9C5CB-C73E-46F1-A10C-91E74B35B14A}" type="datetimeFigureOut">
              <a:rPr lang="en-US" smtClean="0"/>
              <a:t>1/21/2020</a:t>
            </a:fld>
            <a:endParaRPr lang="en-US"/>
          </a:p>
        </p:txBody>
      </p:sp>
      <p:sp>
        <p:nvSpPr>
          <p:cNvPr id="6" name="Footer Placeholder 5"/>
          <p:cNvSpPr>
            <a:spLocks noGrp="1"/>
          </p:cNvSpPr>
          <p:nvPr>
            <p:ph type="ftr" sz="quarter" idx="11"/>
          </p:nvPr>
        </p:nvSpPr>
        <p:spPr>
          <a:xfrm>
            <a:off x="685800" y="379941"/>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80346A53-A52B-4722-B605-5E78BA4FEAFB}" type="slidenum">
              <a:rPr lang="en-US" smtClean="0"/>
              <a:t>‹#›</a:t>
            </a:fld>
            <a:endParaRPr lang="en-US"/>
          </a:p>
        </p:txBody>
      </p:sp>
      <p:sp>
        <p:nvSpPr>
          <p:cNvPr id="9" name="TextBox 8"/>
          <p:cNvSpPr txBox="1"/>
          <p:nvPr/>
        </p:nvSpPr>
        <p:spPr>
          <a:xfrm>
            <a:off x="476250" y="93345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0" name="TextBox 9"/>
          <p:cNvSpPr txBox="1"/>
          <p:nvPr/>
        </p:nvSpPr>
        <p:spPr>
          <a:xfrm>
            <a:off x="10984230" y="270129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3618880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pic>
        <p:nvPicPr>
          <p:cNvPr id="9" name="Picture 8"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Title 1"/>
          <p:cNvSpPr>
            <a:spLocks noGrp="1"/>
          </p:cNvSpPr>
          <p:nvPr>
            <p:ph type="title"/>
          </p:nvPr>
        </p:nvSpPr>
        <p:spPr>
          <a:xfrm>
            <a:off x="1024495" y="1124701"/>
            <a:ext cx="10146186" cy="2511835"/>
          </a:xfrm>
        </p:spPr>
        <p:txBody>
          <a:bodyPr anchor="b"/>
          <a:lstStyle>
            <a:lvl1pPr algn="l">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1024467" y="3648315"/>
            <a:ext cx="10144654" cy="99988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7814452" y="378883"/>
            <a:ext cx="2910840" cy="365125"/>
          </a:xfrm>
        </p:spPr>
        <p:txBody>
          <a:bodyPr/>
          <a:lstStyle>
            <a:lvl1pPr algn="r">
              <a:defRPr/>
            </a:lvl1pPr>
          </a:lstStyle>
          <a:p>
            <a:fld id="{88D9C5CB-C73E-46F1-A10C-91E74B35B14A}" type="datetimeFigureOut">
              <a:rPr lang="en-US" smtClean="0"/>
              <a:t>1/21/2020</a:t>
            </a:fld>
            <a:endParaRPr lang="en-US"/>
          </a:p>
        </p:txBody>
      </p:sp>
      <p:sp>
        <p:nvSpPr>
          <p:cNvPr id="6" name="Footer Placeholder 5"/>
          <p:cNvSpPr>
            <a:spLocks noGrp="1"/>
          </p:cNvSpPr>
          <p:nvPr>
            <p:ph type="ftr" sz="quarter" idx="11"/>
          </p:nvPr>
        </p:nvSpPr>
        <p:spPr>
          <a:xfrm>
            <a:off x="685800" y="378883"/>
            <a:ext cx="6991492" cy="365125"/>
          </a:xfrm>
        </p:spPr>
        <p:txBody>
          <a:bodyPr/>
          <a:lstStyle/>
          <a:p>
            <a:endParaRPr lang="en-US"/>
          </a:p>
        </p:txBody>
      </p:sp>
      <p:sp>
        <p:nvSpPr>
          <p:cNvPr id="7" name="Slide Number Placeholder 6"/>
          <p:cNvSpPr>
            <a:spLocks noGrp="1"/>
          </p:cNvSpPr>
          <p:nvPr>
            <p:ph type="sldNum" sz="quarter" idx="12"/>
          </p:nvPr>
        </p:nvSpPr>
        <p:spPr>
          <a:xfrm>
            <a:off x="10862452" y="381000"/>
            <a:ext cx="643748" cy="365125"/>
          </a:xfrm>
        </p:spPr>
        <p:txBody>
          <a:bodyPr/>
          <a:lstStyle/>
          <a:p>
            <a:fld id="{80346A53-A52B-4722-B605-5E78BA4FEAFB}" type="slidenum">
              <a:rPr lang="en-US" smtClean="0"/>
              <a:t>‹#›</a:t>
            </a:fld>
            <a:endParaRPr lang="en-US"/>
          </a:p>
        </p:txBody>
      </p:sp>
    </p:spTree>
    <p:extLst>
      <p:ext uri="{BB962C8B-B14F-4D97-AF65-F5344CB8AC3E}">
        <p14:creationId xmlns:p14="http://schemas.microsoft.com/office/powerpoint/2010/main" val="18348170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2895600" y="761999"/>
            <a:ext cx="8610599" cy="1303867"/>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685800" y="2202080"/>
            <a:ext cx="3456432" cy="617320"/>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685799"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368800" y="2201333"/>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4366858" y="2904067"/>
            <a:ext cx="3456432" cy="331461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8051800" y="2192866"/>
            <a:ext cx="3456432" cy="626534"/>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8051801" y="2904565"/>
            <a:ext cx="3456432" cy="331413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88D9C5CB-C73E-46F1-A10C-91E74B35B14A}" type="datetimeFigureOut">
              <a:rPr lang="en-US" smtClean="0"/>
              <a:t>1/21/2020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346A53-A52B-4722-B605-5E78BA4FEAFB}" type="slidenum">
              <a:rPr lang="en-US" smtClean="0"/>
              <a:t>‹#›</a:t>
            </a:fld>
            <a:endParaRPr lang="en-US"/>
          </a:p>
        </p:txBody>
      </p:sp>
    </p:spTree>
    <p:extLst>
      <p:ext uri="{BB962C8B-B14F-4D97-AF65-F5344CB8AC3E}">
        <p14:creationId xmlns:p14="http://schemas.microsoft.com/office/powerpoint/2010/main" val="17064752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2895600" y="762000"/>
            <a:ext cx="8610599" cy="12954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688618" y="4191000"/>
            <a:ext cx="3451582"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688618" y="2362200"/>
            <a:ext cx="3451582"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688618" y="4873764"/>
            <a:ext cx="3451582"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374263" y="4191000"/>
            <a:ext cx="3448935"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374263" y="2362200"/>
            <a:ext cx="3448936"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374264" y="4873763"/>
            <a:ext cx="344893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8049731" y="4191000"/>
            <a:ext cx="3456469" cy="682765"/>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8049855" y="2362200"/>
            <a:ext cx="3447878"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8049731" y="4873761"/>
            <a:ext cx="3452445" cy="1344921"/>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88D9C5CB-C73E-46F1-A10C-91E74B35B14A}" type="datetimeFigureOut">
              <a:rPr lang="en-US" smtClean="0"/>
              <a:t>1/21/2020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0346A53-A52B-4722-B605-5E78BA4FEAFB}" type="slidenum">
              <a:rPr lang="en-US" smtClean="0"/>
              <a:t>‹#›</a:t>
            </a:fld>
            <a:endParaRPr lang="en-US"/>
          </a:p>
        </p:txBody>
      </p:sp>
    </p:spTree>
    <p:extLst>
      <p:ext uri="{BB962C8B-B14F-4D97-AF65-F5344CB8AC3E}">
        <p14:creationId xmlns:p14="http://schemas.microsoft.com/office/powerpoint/2010/main" val="40250002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2194559"/>
            <a:ext cx="10820400" cy="40241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8D9C5CB-C73E-46F1-A10C-91E74B35B14A}" type="datetimeFigureOut">
              <a:rPr lang="en-US" smtClean="0"/>
              <a:t>1/21/2020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346A53-A52B-4722-B605-5E78BA4FEAFB}" type="slidenum">
              <a:rPr lang="en-US" smtClean="0"/>
              <a:t>‹#›</a:t>
            </a:fld>
            <a:endParaRPr lang="en-US"/>
          </a:p>
        </p:txBody>
      </p:sp>
    </p:spTree>
    <p:extLst>
      <p:ext uri="{BB962C8B-B14F-4D97-AF65-F5344CB8AC3E}">
        <p14:creationId xmlns:p14="http://schemas.microsoft.com/office/powerpoint/2010/main" val="3288366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pic>
        <p:nvPicPr>
          <p:cNvPr id="8" name="Picture 7" descr="C0-HD-BT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375150"/>
            <a:ext cx="12192000" cy="2482850"/>
          </a:xfrm>
          <a:prstGeom prst="rect">
            <a:avLst/>
          </a:prstGeom>
        </p:spPr>
      </p:pic>
      <p:sp>
        <p:nvSpPr>
          <p:cNvPr id="2" name="Vertical Title 1"/>
          <p:cNvSpPr>
            <a:spLocks noGrp="1"/>
          </p:cNvSpPr>
          <p:nvPr>
            <p:ph type="title" orient="vert"/>
          </p:nvPr>
        </p:nvSpPr>
        <p:spPr>
          <a:xfrm>
            <a:off x="9448800" y="745066"/>
            <a:ext cx="2057400" cy="3903133"/>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024466" y="745067"/>
            <a:ext cx="8204201" cy="390313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7814452" y="379941"/>
            <a:ext cx="2910840" cy="365125"/>
          </a:xfrm>
        </p:spPr>
        <p:txBody>
          <a:bodyPr/>
          <a:lstStyle>
            <a:lvl1pPr algn="r">
              <a:defRPr/>
            </a:lvl1pPr>
          </a:lstStyle>
          <a:p>
            <a:fld id="{88D9C5CB-C73E-46F1-A10C-91E74B35B14A}" type="datetimeFigureOut">
              <a:rPr lang="en-US" smtClean="0"/>
              <a:t>1/21/2020</a:t>
            </a:fld>
            <a:endParaRPr lang="en-US"/>
          </a:p>
        </p:txBody>
      </p:sp>
      <p:sp>
        <p:nvSpPr>
          <p:cNvPr id="5" name="Footer Placeholder 4"/>
          <p:cNvSpPr>
            <a:spLocks noGrp="1"/>
          </p:cNvSpPr>
          <p:nvPr>
            <p:ph type="ftr" sz="quarter" idx="11"/>
          </p:nvPr>
        </p:nvSpPr>
        <p:spPr>
          <a:xfrm>
            <a:off x="685800" y="381000"/>
            <a:ext cx="6991492" cy="365125"/>
          </a:xfrm>
        </p:spPr>
        <p:txBody>
          <a:bodyPr/>
          <a:lstStyle/>
          <a:p>
            <a:endParaRPr lang="en-US"/>
          </a:p>
        </p:txBody>
      </p:sp>
      <p:sp>
        <p:nvSpPr>
          <p:cNvPr id="6" name="Slide Number Placeholder 5"/>
          <p:cNvSpPr>
            <a:spLocks noGrp="1"/>
          </p:cNvSpPr>
          <p:nvPr>
            <p:ph type="sldNum" sz="quarter" idx="12"/>
          </p:nvPr>
        </p:nvSpPr>
        <p:spPr>
          <a:xfrm>
            <a:off x="10862452" y="381000"/>
            <a:ext cx="643748" cy="365125"/>
          </a:xfrm>
        </p:spPr>
        <p:txBody>
          <a:bodyPr/>
          <a:lstStyle/>
          <a:p>
            <a:fld id="{80346A53-A52B-4722-B605-5E78BA4FEAFB}" type="slidenum">
              <a:rPr lang="en-US" smtClean="0"/>
              <a:t>‹#›</a:t>
            </a:fld>
            <a:endParaRPr lang="en-US"/>
          </a:p>
        </p:txBody>
      </p:sp>
    </p:spTree>
    <p:extLst>
      <p:ext uri="{BB962C8B-B14F-4D97-AF65-F5344CB8AC3E}">
        <p14:creationId xmlns:p14="http://schemas.microsoft.com/office/powerpoint/2010/main" val="13864147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descr="C0-HD-TOP.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92000" cy="1441450"/>
          </a:xfrm>
          <a:prstGeom prst="rect">
            <a:avLst/>
          </a:prstGeom>
        </p:spPr>
      </p:pic>
      <p:sp>
        <p:nvSpPr>
          <p:cNvPr id="2" name="Title Placeholder 1"/>
          <p:cNvSpPr>
            <a:spLocks noGrp="1"/>
          </p:cNvSpPr>
          <p:nvPr>
            <p:ph type="title"/>
          </p:nvPr>
        </p:nvSpPr>
        <p:spPr>
          <a:xfrm>
            <a:off x="2895600" y="764373"/>
            <a:ext cx="8610600" cy="129302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0" y="2194560"/>
            <a:ext cx="10820400" cy="4024125"/>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595360" y="6356350"/>
            <a:ext cx="291084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8D9C5CB-C73E-46F1-A10C-91E74B35B14A}" type="datetimeFigureOut">
              <a:rPr lang="en-US" smtClean="0"/>
              <a:t>1/21/2020</a:t>
            </a:fld>
            <a:endParaRPr lang="en-US"/>
          </a:p>
        </p:txBody>
      </p:sp>
      <p:sp>
        <p:nvSpPr>
          <p:cNvPr id="5" name="Footer Placeholder 4"/>
          <p:cNvSpPr>
            <a:spLocks noGrp="1"/>
          </p:cNvSpPr>
          <p:nvPr>
            <p:ph type="ftr" sz="quarter" idx="3"/>
          </p:nvPr>
        </p:nvSpPr>
        <p:spPr>
          <a:xfrm>
            <a:off x="685800" y="6355845"/>
            <a:ext cx="777240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63000" y="381000"/>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0346A53-A52B-4722-B605-5E78BA4FEAFB}" type="slidenum">
              <a:rPr lang="en-US" smtClean="0"/>
              <a:t>‹#›</a:t>
            </a:fld>
            <a:endParaRPr lang="en-US"/>
          </a:p>
        </p:txBody>
      </p:sp>
    </p:spTree>
    <p:extLst>
      <p:ext uri="{BB962C8B-B14F-4D97-AF65-F5344CB8AC3E}">
        <p14:creationId xmlns:p14="http://schemas.microsoft.com/office/powerpoint/2010/main" val="104634848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r" defTabSz="914400" rtl="0" eaLnBrk="1" latinLnBrk="0" hangingPunct="1">
        <a:lnSpc>
          <a:spcPct val="90000"/>
        </a:lnSpc>
        <a:spcBef>
          <a:spcPct val="0"/>
        </a:spcBef>
        <a:buNone/>
        <a:defRPr sz="4000" kern="1200" cap="all"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2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978794" y="746975"/>
            <a:ext cx="10676586" cy="5016758"/>
          </a:xfrm>
          <a:prstGeom prst="rect">
            <a:avLst/>
          </a:prstGeom>
          <a:noFill/>
        </p:spPr>
        <p:txBody>
          <a:bodyPr wrap="square" rtlCol="0">
            <a:spAutoFit/>
          </a:bodyPr>
          <a:lstStyle/>
          <a:p>
            <a:pPr algn="ctr"/>
            <a:r>
              <a:rPr lang="en-US" sz="2000" dirty="0" smtClean="0">
                <a:latin typeface="Bodoni MT" panose="02070603080606020203" pitchFamily="18" charset="0"/>
              </a:rPr>
              <a:t>FINAL YEAR PROJECT MINI DEFENCE </a:t>
            </a:r>
          </a:p>
          <a:p>
            <a:pPr algn="ctr"/>
            <a:endParaRPr lang="en-US" sz="2000" dirty="0" smtClean="0">
              <a:latin typeface="Bodoni MT" panose="02070603080606020203" pitchFamily="18" charset="0"/>
            </a:endParaRPr>
          </a:p>
          <a:p>
            <a:pPr algn="ctr"/>
            <a:r>
              <a:rPr lang="en-US" sz="2000" dirty="0" smtClean="0">
                <a:latin typeface="Bodoni MT" panose="02070603080606020203" pitchFamily="18" charset="0"/>
              </a:rPr>
              <a:t>PROJECT TOPIC: DEVELOPMENT OF AN ONLINE RESERVATION SYSTEM</a:t>
            </a:r>
          </a:p>
          <a:p>
            <a:pPr algn="ctr"/>
            <a:r>
              <a:rPr lang="en-US" sz="2000" dirty="0" smtClean="0">
                <a:latin typeface="Bodoni MT" panose="02070603080606020203" pitchFamily="18" charset="0"/>
              </a:rPr>
              <a:t> (A CASE STUDY OF BOWEN UNIVERSITY GUEST HOUSE, IWO)</a:t>
            </a:r>
          </a:p>
          <a:p>
            <a:pPr algn="ctr"/>
            <a:endParaRPr lang="en-US" sz="2000" dirty="0">
              <a:latin typeface="Bodoni MT" panose="02070603080606020203" pitchFamily="18" charset="0"/>
            </a:endParaRPr>
          </a:p>
          <a:p>
            <a:pPr algn="ctr"/>
            <a:r>
              <a:rPr lang="en-US" sz="2000" dirty="0" smtClean="0">
                <a:latin typeface="Bodoni MT" panose="02070603080606020203" pitchFamily="18" charset="0"/>
              </a:rPr>
              <a:t>BY </a:t>
            </a:r>
          </a:p>
          <a:p>
            <a:pPr algn="ctr"/>
            <a:r>
              <a:rPr lang="en-US" sz="2000" dirty="0" smtClean="0">
                <a:latin typeface="Bodoni MT" panose="02070603080606020203" pitchFamily="18" charset="0"/>
              </a:rPr>
              <a:t>JOSHUA TAMUNOKURO BLUE-JACK</a:t>
            </a:r>
          </a:p>
          <a:p>
            <a:pPr algn="ctr"/>
            <a:endParaRPr lang="en-US" sz="2000" dirty="0" smtClean="0">
              <a:latin typeface="Bodoni MT" panose="02070603080606020203" pitchFamily="18" charset="0"/>
            </a:endParaRPr>
          </a:p>
          <a:p>
            <a:pPr algn="ctr"/>
            <a:r>
              <a:rPr lang="en-US" sz="2000" dirty="0" smtClean="0">
                <a:latin typeface="Bodoni MT" panose="02070603080606020203" pitchFamily="18" charset="0"/>
              </a:rPr>
              <a:t>PROJECT SUPERVISOR: </a:t>
            </a:r>
          </a:p>
          <a:p>
            <a:pPr algn="ctr"/>
            <a:r>
              <a:rPr lang="en-US" sz="2000" dirty="0" smtClean="0">
                <a:latin typeface="Bodoni MT" panose="02070603080606020203" pitchFamily="18" charset="0"/>
              </a:rPr>
              <a:t>MR. ADEYEMO</a:t>
            </a:r>
          </a:p>
          <a:p>
            <a:pPr algn="ctr"/>
            <a:endParaRPr lang="en-US" sz="2000" dirty="0">
              <a:latin typeface="Bodoni MT" panose="02070603080606020203" pitchFamily="18" charset="0"/>
            </a:endParaRPr>
          </a:p>
          <a:p>
            <a:pPr algn="ctr"/>
            <a:endParaRPr lang="en-US" sz="2000" dirty="0" smtClean="0">
              <a:latin typeface="Bodoni MT" panose="02070603080606020203" pitchFamily="18" charset="0"/>
            </a:endParaRPr>
          </a:p>
          <a:p>
            <a:pPr algn="ctr"/>
            <a:endParaRPr lang="en-US" sz="2000" dirty="0" smtClean="0">
              <a:latin typeface="Bodoni MT" panose="02070603080606020203" pitchFamily="18" charset="0"/>
            </a:endParaRPr>
          </a:p>
          <a:p>
            <a:pPr algn="ctr"/>
            <a:r>
              <a:rPr lang="en-US" sz="2000" dirty="0" smtClean="0">
                <a:latin typeface="Bodoni MT" panose="02070603080606020203" pitchFamily="18" charset="0"/>
              </a:rPr>
              <a:t>DEPARTMENT OF COMPUTER SCIENCE </a:t>
            </a:r>
          </a:p>
          <a:p>
            <a:pPr algn="ctr"/>
            <a:r>
              <a:rPr lang="en-US" sz="2000" dirty="0" smtClean="0">
                <a:latin typeface="Bodoni MT" panose="02070603080606020203" pitchFamily="18" charset="0"/>
              </a:rPr>
              <a:t>COLLEGE OF COMPUTING AND COMMUNICATION STUDIES(COCCS)</a:t>
            </a:r>
          </a:p>
          <a:p>
            <a:pPr algn="ctr"/>
            <a:r>
              <a:rPr lang="en-US" sz="2000" dirty="0" smtClean="0">
                <a:latin typeface="Bodoni MT" panose="02070603080606020203" pitchFamily="18" charset="0"/>
              </a:rPr>
              <a:t>BOWEN UNIVERSITY, IWO</a:t>
            </a:r>
            <a:endParaRPr lang="en-US" sz="2000" dirty="0">
              <a:latin typeface="Bodoni MT" panose="02070603080606020203" pitchFamily="18" charset="0"/>
            </a:endParaRPr>
          </a:p>
        </p:txBody>
      </p:sp>
    </p:spTree>
    <p:extLst>
      <p:ext uri="{BB962C8B-B14F-4D97-AF65-F5344CB8AC3E}">
        <p14:creationId xmlns:p14="http://schemas.microsoft.com/office/powerpoint/2010/main" val="349352974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0761" y="347730"/>
            <a:ext cx="11307650" cy="6093976"/>
          </a:xfrm>
          <a:prstGeom prst="rect">
            <a:avLst/>
          </a:prstGeom>
          <a:noFill/>
        </p:spPr>
        <p:txBody>
          <a:bodyPr wrap="square" rtlCol="0">
            <a:spAutoFit/>
          </a:bodyPr>
          <a:lstStyle/>
          <a:p>
            <a:pPr algn="ctr"/>
            <a:endParaRPr lang="en-US" sz="4800" dirty="0" smtClean="0">
              <a:solidFill>
                <a:srgbClr val="FF0000"/>
              </a:solidFill>
              <a:latin typeface="Bodoni MT" panose="02070603080606020203" pitchFamily="18" charset="0"/>
            </a:endParaRPr>
          </a:p>
          <a:p>
            <a:pPr algn="ctr"/>
            <a:endParaRPr lang="en-US" sz="4800" dirty="0">
              <a:solidFill>
                <a:srgbClr val="FF0000"/>
              </a:solidFill>
              <a:latin typeface="Bodoni MT" panose="02070603080606020203" pitchFamily="18" charset="0"/>
            </a:endParaRPr>
          </a:p>
          <a:p>
            <a:pPr algn="ctr"/>
            <a:r>
              <a:rPr lang="en-US" sz="4800" dirty="0" smtClean="0">
                <a:latin typeface="Bodoni MT" panose="02070603080606020203" pitchFamily="18" charset="0"/>
              </a:rPr>
              <a:t>DEVELOPMENT OF AN ONLINE</a:t>
            </a:r>
          </a:p>
          <a:p>
            <a:pPr algn="ctr"/>
            <a:r>
              <a:rPr lang="en-US" sz="4800" dirty="0" smtClean="0">
                <a:latin typeface="Bodoni MT" panose="02070603080606020203" pitchFamily="18" charset="0"/>
              </a:rPr>
              <a:t> RESERVATION SYSTEM</a:t>
            </a:r>
          </a:p>
          <a:p>
            <a:pPr algn="ctr"/>
            <a:endParaRPr lang="en-US" sz="4800" dirty="0" smtClean="0">
              <a:latin typeface="Bodoni MT" panose="02070603080606020203" pitchFamily="18" charset="0"/>
            </a:endParaRPr>
          </a:p>
          <a:p>
            <a:pPr algn="ctr"/>
            <a:r>
              <a:rPr lang="en-US" sz="4800" dirty="0" smtClean="0">
                <a:latin typeface="Bodoni MT" panose="02070603080606020203" pitchFamily="18" charset="0"/>
              </a:rPr>
              <a:t>(BOWEN UNIVERSITY AS CASE STUDY) </a:t>
            </a:r>
          </a:p>
          <a:p>
            <a:endParaRPr lang="en-US" sz="5400" dirty="0">
              <a:latin typeface="Bodoni MT" panose="02070603080606020203" pitchFamily="18" charset="0"/>
            </a:endParaRPr>
          </a:p>
        </p:txBody>
      </p:sp>
    </p:spTree>
    <p:extLst>
      <p:ext uri="{BB962C8B-B14F-4D97-AF65-F5344CB8AC3E}">
        <p14:creationId xmlns:p14="http://schemas.microsoft.com/office/powerpoint/2010/main" val="41957589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25003" y="347730"/>
            <a:ext cx="11307651" cy="1200329"/>
          </a:xfrm>
          <a:prstGeom prst="rect">
            <a:avLst/>
          </a:prstGeom>
          <a:noFill/>
        </p:spPr>
        <p:txBody>
          <a:bodyPr wrap="square" rtlCol="0">
            <a:spAutoFit/>
          </a:bodyPr>
          <a:lstStyle/>
          <a:p>
            <a:endParaRPr lang="en-US" sz="3600" dirty="0" smtClean="0">
              <a:latin typeface="Bodoni MT" panose="02070603080606020203" pitchFamily="18" charset="0"/>
            </a:endParaRPr>
          </a:p>
          <a:p>
            <a:r>
              <a:rPr lang="en-US" sz="3600" dirty="0" smtClean="0">
                <a:solidFill>
                  <a:srgbClr val="FF0000"/>
                </a:solidFill>
                <a:latin typeface="Bodoni MT" panose="02070603080606020203" pitchFamily="18" charset="0"/>
              </a:rPr>
              <a:t>                            </a:t>
            </a:r>
            <a:r>
              <a:rPr lang="en-US" sz="3600" dirty="0" smtClean="0">
                <a:latin typeface="Bodoni MT" panose="02070603080606020203" pitchFamily="18" charset="0"/>
              </a:rPr>
              <a:t>INTRODUCTION</a:t>
            </a:r>
          </a:p>
        </p:txBody>
      </p:sp>
      <p:sp>
        <p:nvSpPr>
          <p:cNvPr id="3" name="TextBox 2"/>
          <p:cNvSpPr txBox="1"/>
          <p:nvPr/>
        </p:nvSpPr>
        <p:spPr>
          <a:xfrm>
            <a:off x="425003" y="1548059"/>
            <a:ext cx="11307651" cy="3539430"/>
          </a:xfrm>
          <a:prstGeom prst="rect">
            <a:avLst/>
          </a:prstGeom>
          <a:noFill/>
        </p:spPr>
        <p:txBody>
          <a:bodyPr wrap="square" rtlCol="0">
            <a:spAutoFit/>
          </a:bodyPr>
          <a:lstStyle/>
          <a:p>
            <a:r>
              <a:rPr lang="en-US" sz="2800" dirty="0">
                <a:latin typeface="Bodoni MT" panose="02070603080606020203" pitchFamily="18" charset="0"/>
              </a:rPr>
              <a:t>The use of information </a:t>
            </a:r>
            <a:r>
              <a:rPr lang="en-US" sz="2800" dirty="0" smtClean="0">
                <a:latin typeface="Bodoni MT" panose="02070603080606020203" pitchFamily="18" charset="0"/>
              </a:rPr>
              <a:t>technology has transformed the most sectors in the world today and the Hotel industry has not been left out. </a:t>
            </a:r>
          </a:p>
          <a:p>
            <a:r>
              <a:rPr lang="en-US" sz="2800" dirty="0" smtClean="0">
                <a:latin typeface="Bodoni MT" panose="02070603080606020203" pitchFamily="18" charset="0"/>
              </a:rPr>
              <a:t>Before now customers needed to contact agents to make bookings on their behalf, which was very slow and inefficient.</a:t>
            </a:r>
          </a:p>
          <a:p>
            <a:r>
              <a:rPr lang="en-US" sz="2800" dirty="0" smtClean="0">
                <a:latin typeface="Bodoni MT" panose="02070603080606020203" pitchFamily="18" charset="0"/>
              </a:rPr>
              <a:t>Computer Reservation Systems replaced the manual process in the early 1960s, first airline adopted it, causing the hotel and Tourism industry to incorporate it. </a:t>
            </a:r>
          </a:p>
          <a:p>
            <a:r>
              <a:rPr lang="en-US" sz="2800" dirty="0" smtClean="0">
                <a:latin typeface="Bodoni MT" panose="02070603080606020203" pitchFamily="18" charset="0"/>
              </a:rPr>
              <a:t>Technology made it easier.</a:t>
            </a:r>
            <a:endParaRPr lang="en-US" sz="2800" dirty="0">
              <a:latin typeface="Bodoni MT" panose="02070603080606020203" pitchFamily="18" charset="0"/>
            </a:endParaRPr>
          </a:p>
        </p:txBody>
      </p:sp>
    </p:spTree>
    <p:extLst>
      <p:ext uri="{BB962C8B-B14F-4D97-AF65-F5344CB8AC3E}">
        <p14:creationId xmlns:p14="http://schemas.microsoft.com/office/powerpoint/2010/main" val="85763872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024495" y="1124701"/>
            <a:ext cx="10146186" cy="858645"/>
          </a:xfrm>
        </p:spPr>
        <p:txBody>
          <a:bodyPr/>
          <a:lstStyle/>
          <a:p>
            <a:r>
              <a:rPr lang="en-US" dirty="0" smtClean="0">
                <a:latin typeface="Bodoni MT" panose="02070603080606020203" pitchFamily="18" charset="0"/>
              </a:rPr>
              <a:t>STATEMENT OF RESEARCH PROBLEM</a:t>
            </a:r>
            <a:endParaRPr lang="en-US" dirty="0">
              <a:latin typeface="Bodoni MT" panose="02070603080606020203" pitchFamily="18" charset="0"/>
            </a:endParaRPr>
          </a:p>
        </p:txBody>
      </p:sp>
      <p:sp>
        <p:nvSpPr>
          <p:cNvPr id="5" name="Text Placeholder 4"/>
          <p:cNvSpPr>
            <a:spLocks noGrp="1"/>
          </p:cNvSpPr>
          <p:nvPr>
            <p:ph type="body" sz="half" idx="2"/>
          </p:nvPr>
        </p:nvSpPr>
        <p:spPr>
          <a:xfrm>
            <a:off x="1024466" y="2189408"/>
            <a:ext cx="10296063" cy="3219719"/>
          </a:xfrm>
        </p:spPr>
        <p:txBody>
          <a:bodyPr>
            <a:normAutofit/>
          </a:bodyPr>
          <a:lstStyle/>
          <a:p>
            <a:pPr lvl="0"/>
            <a:r>
              <a:rPr lang="en-US" sz="2400" dirty="0" smtClean="0">
                <a:latin typeface="Bodoni MT" panose="02070603080606020203" pitchFamily="18" charset="0"/>
              </a:rPr>
              <a:t>The Reservation of rooms in the university guest house is currently done manually which has proven to be inefficient and stressful. </a:t>
            </a:r>
            <a:endParaRPr lang="en-US" sz="2400" dirty="0" smtClean="0">
              <a:latin typeface="Bodoni MT" panose="02070603080606020203" pitchFamily="18" charset="0"/>
            </a:endParaRPr>
          </a:p>
          <a:p>
            <a:pPr lvl="0"/>
            <a:r>
              <a:rPr lang="en-US" sz="2400" dirty="0" smtClean="0">
                <a:latin typeface="Bodoni MT" panose="02070603080606020203" pitchFamily="18" charset="0"/>
              </a:rPr>
              <a:t>To </a:t>
            </a:r>
            <a:r>
              <a:rPr lang="en-US" sz="2400" dirty="0" smtClean="0">
                <a:latin typeface="Bodoni MT" panose="02070603080606020203" pitchFamily="18" charset="0"/>
              </a:rPr>
              <a:t>the visitors also, there is no platform accessible to make inquiries about the availability of rooms and possibly make reservation when planning a visit to the university. </a:t>
            </a:r>
            <a:r>
              <a:rPr lang="en-US" sz="2400" dirty="0" smtClean="0">
                <a:latin typeface="Bodoni MT" panose="02070603080606020203" pitchFamily="18" charset="0"/>
              </a:rPr>
              <a:t>Making </a:t>
            </a:r>
            <a:r>
              <a:rPr lang="en-US" sz="2400" dirty="0" smtClean="0">
                <a:latin typeface="Bodoni MT" panose="02070603080606020203" pitchFamily="18" charset="0"/>
              </a:rPr>
              <a:t>the inquiry process exhaustive and slow. This project aims at tackling that problem</a:t>
            </a:r>
            <a:endParaRPr lang="en-US" sz="2400" dirty="0">
              <a:latin typeface="Bodoni MT" panose="02070603080606020203" pitchFamily="18" charset="0"/>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54199" y="2634800"/>
            <a:ext cx="1937802" cy="4429262"/>
          </a:xfrm>
          <a:prstGeom prst="rect">
            <a:avLst/>
          </a:prstGeom>
        </p:spPr>
      </p:pic>
    </p:spTree>
    <p:extLst>
      <p:ext uri="{BB962C8B-B14F-4D97-AF65-F5344CB8AC3E}">
        <p14:creationId xmlns:p14="http://schemas.microsoft.com/office/powerpoint/2010/main" val="29263631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495" y="1124701"/>
            <a:ext cx="10146186" cy="1051829"/>
          </a:xfrm>
        </p:spPr>
        <p:txBody>
          <a:bodyPr/>
          <a:lstStyle/>
          <a:p>
            <a:pPr algn="ctr"/>
            <a:r>
              <a:rPr lang="en-US" dirty="0" smtClean="0">
                <a:latin typeface="Bodoni MT" panose="02070603080606020203" pitchFamily="18" charset="0"/>
              </a:rPr>
              <a:t>AIMS</a:t>
            </a:r>
            <a:endParaRPr lang="en-US" dirty="0">
              <a:latin typeface="Bodoni MT" panose="02070603080606020203" pitchFamily="18" charset="0"/>
            </a:endParaRPr>
          </a:p>
        </p:txBody>
      </p:sp>
      <p:sp>
        <p:nvSpPr>
          <p:cNvPr id="3" name="Text Placeholder 2"/>
          <p:cNvSpPr>
            <a:spLocks noGrp="1"/>
          </p:cNvSpPr>
          <p:nvPr>
            <p:ph type="body" sz="half" idx="2"/>
          </p:nvPr>
        </p:nvSpPr>
        <p:spPr>
          <a:xfrm>
            <a:off x="1024467" y="2176530"/>
            <a:ext cx="10144654" cy="4288663"/>
          </a:xfrm>
        </p:spPr>
        <p:txBody>
          <a:bodyPr>
            <a:normAutofit/>
          </a:bodyPr>
          <a:lstStyle/>
          <a:p>
            <a:r>
              <a:rPr lang="en-US" sz="2400" dirty="0">
                <a:latin typeface="Bodoni MT" panose="02070603080606020203" pitchFamily="18" charset="0"/>
              </a:rPr>
              <a:t>The aim of this project is to design and implement an online reservation system for the Bowen University Guest </a:t>
            </a:r>
            <a:r>
              <a:rPr lang="en-US" sz="2400" dirty="0" smtClean="0">
                <a:latin typeface="Bodoni MT" panose="02070603080606020203" pitchFamily="18" charset="0"/>
              </a:rPr>
              <a:t>House.</a:t>
            </a:r>
          </a:p>
          <a:p>
            <a:r>
              <a:rPr lang="en-US" sz="3500" dirty="0">
                <a:latin typeface="Bodoni MT" panose="02070603080606020203" pitchFamily="18" charset="0"/>
              </a:rPr>
              <a:t> </a:t>
            </a:r>
            <a:r>
              <a:rPr lang="en-US" sz="3500" dirty="0" smtClean="0">
                <a:latin typeface="Bodoni MT" panose="02070603080606020203" pitchFamily="18" charset="0"/>
              </a:rPr>
              <a:t> </a:t>
            </a:r>
            <a:r>
              <a:rPr lang="en-US" sz="2400" dirty="0" smtClean="0">
                <a:latin typeface="Bodoni MT" panose="02070603080606020203" pitchFamily="18" charset="0"/>
              </a:rPr>
              <a:t> </a:t>
            </a:r>
            <a:endParaRPr lang="en-US" sz="2400" dirty="0">
              <a:latin typeface="Bodoni MT" panose="02070603080606020203" pitchFamily="18" charset="0"/>
            </a:endParaRPr>
          </a:p>
          <a:p>
            <a:endParaRPr lang="en-US" dirty="0"/>
          </a:p>
        </p:txBody>
      </p:sp>
    </p:spTree>
    <p:extLst>
      <p:ext uri="{BB962C8B-B14F-4D97-AF65-F5344CB8AC3E}">
        <p14:creationId xmlns:p14="http://schemas.microsoft.com/office/powerpoint/2010/main" val="221157437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326524" y="850006"/>
            <a:ext cx="9865217" cy="3785652"/>
          </a:xfrm>
          <a:prstGeom prst="rect">
            <a:avLst/>
          </a:prstGeom>
          <a:noFill/>
        </p:spPr>
        <p:txBody>
          <a:bodyPr wrap="square" rtlCol="0">
            <a:spAutoFit/>
          </a:bodyPr>
          <a:lstStyle/>
          <a:p>
            <a:pPr algn="ctr"/>
            <a:r>
              <a:rPr lang="en-US" sz="2400" dirty="0">
                <a:latin typeface="Bodoni MT" panose="02070603080606020203" pitchFamily="18" charset="0"/>
              </a:rPr>
              <a:t>OBJECTIVES</a:t>
            </a:r>
          </a:p>
          <a:p>
            <a:pPr lvl="0"/>
            <a:r>
              <a:rPr lang="en-US" sz="2400" dirty="0">
                <a:latin typeface="Bodoni MT" panose="02070603080606020203" pitchFamily="18" charset="0"/>
              </a:rPr>
              <a:t>To use a few Research Methods to capture relevant data necessary for the development of a functional reservation system</a:t>
            </a:r>
            <a:r>
              <a:rPr lang="en-US" sz="2400" dirty="0" smtClean="0">
                <a:latin typeface="Bodoni MT" panose="02070603080606020203" pitchFamily="18" charset="0"/>
              </a:rPr>
              <a:t>.</a:t>
            </a:r>
          </a:p>
          <a:p>
            <a:pPr lvl="0"/>
            <a:endParaRPr lang="en-US" sz="2400" dirty="0">
              <a:latin typeface="Bodoni MT" panose="02070603080606020203" pitchFamily="18" charset="0"/>
            </a:endParaRPr>
          </a:p>
          <a:p>
            <a:pPr lvl="0"/>
            <a:r>
              <a:rPr lang="en-US" sz="2400" dirty="0">
                <a:latin typeface="Bodoni MT" panose="02070603080606020203" pitchFamily="18" charset="0"/>
              </a:rPr>
              <a:t>To design and represent the proposed system with Unified Modeling Language (UML) diagrams</a:t>
            </a:r>
            <a:r>
              <a:rPr lang="en-US" sz="2400" dirty="0" smtClean="0">
                <a:latin typeface="Bodoni MT" panose="02070603080606020203" pitchFamily="18" charset="0"/>
              </a:rPr>
              <a:t>.</a:t>
            </a:r>
          </a:p>
          <a:p>
            <a:pPr lvl="0"/>
            <a:endParaRPr lang="en-US" sz="2400" dirty="0">
              <a:latin typeface="Bodoni MT" panose="02070603080606020203" pitchFamily="18" charset="0"/>
            </a:endParaRPr>
          </a:p>
          <a:p>
            <a:pPr lvl="0"/>
            <a:r>
              <a:rPr lang="en-US" sz="2400" dirty="0">
                <a:latin typeface="Bodoni MT" panose="02070603080606020203" pitchFamily="18" charset="0"/>
              </a:rPr>
              <a:t>Apply the design developed to the proposed online reservation system.</a:t>
            </a:r>
          </a:p>
          <a:p>
            <a:pPr lvl="0"/>
            <a:r>
              <a:rPr lang="en-US" sz="2400" dirty="0">
                <a:latin typeface="Bodoni MT" panose="02070603080606020203" pitchFamily="18" charset="0"/>
              </a:rPr>
              <a:t>To incorporate all information gathered to the online reservation system.</a:t>
            </a:r>
          </a:p>
          <a:p>
            <a:endParaRPr lang="en-US" sz="2400" dirty="0">
              <a:latin typeface="Bodoni MT" panose="02070603080606020203" pitchFamily="18" charset="0"/>
            </a:endParaRPr>
          </a:p>
        </p:txBody>
      </p:sp>
    </p:spTree>
    <p:extLst>
      <p:ext uri="{BB962C8B-B14F-4D97-AF65-F5344CB8AC3E}">
        <p14:creationId xmlns:p14="http://schemas.microsoft.com/office/powerpoint/2010/main" val="30441498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50006" y="669701"/>
            <a:ext cx="10921284" cy="5570756"/>
          </a:xfrm>
          <a:prstGeom prst="rect">
            <a:avLst/>
          </a:prstGeom>
          <a:noFill/>
        </p:spPr>
        <p:txBody>
          <a:bodyPr wrap="square" rtlCol="0">
            <a:spAutoFit/>
          </a:bodyPr>
          <a:lstStyle/>
          <a:p>
            <a:pPr algn="ctr"/>
            <a:r>
              <a:rPr lang="en-US" sz="3200" dirty="0" smtClean="0">
                <a:latin typeface="Bodoni MT" panose="02070603080606020203" pitchFamily="18" charset="0"/>
              </a:rPr>
              <a:t>METHODOLOGY</a:t>
            </a:r>
          </a:p>
          <a:p>
            <a:pPr algn="ctr"/>
            <a:endParaRPr lang="en-US" sz="3200" dirty="0">
              <a:latin typeface="Bodoni MT" panose="02070603080606020203" pitchFamily="18" charset="0"/>
            </a:endParaRPr>
          </a:p>
          <a:p>
            <a:pPr algn="ctr"/>
            <a:endParaRPr lang="en-US" sz="3200" dirty="0" smtClean="0">
              <a:latin typeface="Bodoni MT" panose="02070603080606020203" pitchFamily="18" charset="0"/>
            </a:endParaRPr>
          </a:p>
          <a:p>
            <a:r>
              <a:rPr lang="en-US" sz="2000" dirty="0" smtClean="0">
                <a:latin typeface="Bodoni MT" panose="02070603080606020203" pitchFamily="18" charset="0"/>
              </a:rPr>
              <a:t>The aims of this project will be achieved, using the following methods:</a:t>
            </a:r>
          </a:p>
          <a:p>
            <a:pPr marL="457200" indent="-457200">
              <a:buAutoNum type="arabicPeriod"/>
            </a:pPr>
            <a:r>
              <a:rPr lang="en-US" sz="2000" dirty="0" smtClean="0">
                <a:latin typeface="Bodoni MT" panose="02070603080606020203" pitchFamily="18" charset="0"/>
              </a:rPr>
              <a:t>One-on-One Interviews with the Guest House Manager to derive the necessary requirements for the development of this reservation system.</a:t>
            </a:r>
          </a:p>
          <a:p>
            <a:pPr marL="457200" indent="-457200">
              <a:buAutoNum type="arabicPeriod"/>
            </a:pPr>
            <a:endParaRPr lang="en-US" sz="2000" dirty="0">
              <a:latin typeface="Bodoni MT" panose="02070603080606020203" pitchFamily="18" charset="0"/>
            </a:endParaRPr>
          </a:p>
          <a:p>
            <a:pPr marL="457200" indent="-457200">
              <a:buAutoNum type="arabicPeriod"/>
            </a:pPr>
            <a:r>
              <a:rPr lang="en-US" sz="2000" dirty="0" smtClean="0">
                <a:latin typeface="Bodoni MT" panose="02070603080606020203" pitchFamily="18" charset="0"/>
              </a:rPr>
              <a:t>Unified Modeling Languages (UML) diagrams for the designing of diagrammatic models for this application</a:t>
            </a:r>
          </a:p>
          <a:p>
            <a:pPr marL="457200" indent="-457200">
              <a:buAutoNum type="arabicPeriod"/>
            </a:pPr>
            <a:endParaRPr lang="en-US" sz="2000" dirty="0">
              <a:latin typeface="Bodoni MT" panose="02070603080606020203" pitchFamily="18" charset="0"/>
            </a:endParaRPr>
          </a:p>
          <a:p>
            <a:pPr marL="457200" indent="-457200">
              <a:buAutoNum type="arabicPeriod"/>
            </a:pPr>
            <a:r>
              <a:rPr lang="en-US" sz="2000" dirty="0" smtClean="0">
                <a:latin typeface="Bodoni MT" panose="02070603080606020203" pitchFamily="18" charset="0"/>
              </a:rPr>
              <a:t>Development of this application will be handled with Bootstrap, JavaScript for the front end and PHP(Hyper Text Preprocessor) will be used to handle the backend, WAMP server will be used to host the application locally and MySQL for designing of the database. Also all customer transactions will be stored in the database for easy retrieval and management. Visual Studio Code will be used as the IDE for this project.</a:t>
            </a:r>
          </a:p>
          <a:p>
            <a:pPr marL="457200" indent="-457200">
              <a:buAutoNum type="arabicPeriod"/>
            </a:pPr>
            <a:endParaRPr lang="en-US" sz="2000" dirty="0">
              <a:latin typeface="Bodoni MT" panose="02070603080606020203" pitchFamily="18" charset="0"/>
            </a:endParaRPr>
          </a:p>
        </p:txBody>
      </p:sp>
    </p:spTree>
    <p:extLst>
      <p:ext uri="{BB962C8B-B14F-4D97-AF65-F5344CB8AC3E}">
        <p14:creationId xmlns:p14="http://schemas.microsoft.com/office/powerpoint/2010/main" val="257961542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66135" y="0"/>
            <a:ext cx="11011437" cy="461665"/>
          </a:xfrm>
          <a:prstGeom prst="rect">
            <a:avLst/>
          </a:prstGeom>
          <a:noFill/>
        </p:spPr>
        <p:txBody>
          <a:bodyPr wrap="square" rtlCol="0">
            <a:spAutoFit/>
          </a:bodyPr>
          <a:lstStyle/>
          <a:p>
            <a:pPr algn="ctr"/>
            <a:r>
              <a:rPr lang="en-US" sz="2400" dirty="0" smtClean="0">
                <a:latin typeface="Bodoni MT" panose="02070603080606020203" pitchFamily="18" charset="0"/>
              </a:rPr>
              <a:t>LITERATURE REVIEW TABLE</a:t>
            </a:r>
            <a:endParaRPr lang="en-US" sz="2400" dirty="0">
              <a:latin typeface="Bodoni MT" panose="02070603080606020203"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4208533858"/>
              </p:ext>
            </p:extLst>
          </p:nvPr>
        </p:nvGraphicFramePr>
        <p:xfrm>
          <a:off x="140676" y="461666"/>
          <a:ext cx="11875312" cy="6220488"/>
        </p:xfrm>
        <a:graphic>
          <a:graphicData uri="http://schemas.openxmlformats.org/drawingml/2006/table">
            <a:tbl>
              <a:tblPr firstRow="1" bandRow="1">
                <a:tableStyleId>{5C22544A-7EE6-4342-B048-85BDC9FD1C3A}</a:tableStyleId>
              </a:tblPr>
              <a:tblGrid>
                <a:gridCol w="748162"/>
                <a:gridCol w="1606202"/>
                <a:gridCol w="2845936"/>
                <a:gridCol w="2302621"/>
                <a:gridCol w="2146036"/>
                <a:gridCol w="2226355"/>
              </a:tblGrid>
              <a:tr h="659749">
                <a:tc>
                  <a:txBody>
                    <a:bodyPr/>
                    <a:lstStyle/>
                    <a:p>
                      <a:r>
                        <a:rPr lang="en-US" dirty="0" smtClean="0"/>
                        <a:t>S/N</a:t>
                      </a:r>
                      <a:endParaRPr lang="en-US" dirty="0"/>
                    </a:p>
                  </a:txBody>
                  <a:tcPr/>
                </a:tc>
                <a:tc>
                  <a:txBody>
                    <a:bodyPr/>
                    <a:lstStyle/>
                    <a:p>
                      <a:r>
                        <a:rPr lang="en-US" dirty="0" smtClean="0"/>
                        <a:t>AUTHOR(s)</a:t>
                      </a:r>
                      <a:r>
                        <a:rPr lang="en-US" baseline="0" dirty="0" smtClean="0"/>
                        <a:t> and DATE</a:t>
                      </a:r>
                      <a:endParaRPr lang="en-US" dirty="0"/>
                    </a:p>
                  </a:txBody>
                  <a:tcPr/>
                </a:tc>
                <a:tc>
                  <a:txBody>
                    <a:bodyPr/>
                    <a:lstStyle/>
                    <a:p>
                      <a:r>
                        <a:rPr lang="en-US" dirty="0" smtClean="0"/>
                        <a:t>PROBLEM ADDRESSED</a:t>
                      </a:r>
                      <a:endParaRPr lang="en-US" dirty="0"/>
                    </a:p>
                  </a:txBody>
                  <a:tcPr/>
                </a:tc>
                <a:tc>
                  <a:txBody>
                    <a:bodyPr/>
                    <a:lstStyle/>
                    <a:p>
                      <a:r>
                        <a:rPr lang="en-US" dirty="0" smtClean="0"/>
                        <a:t>METHODOLOGY EMPLOYED</a:t>
                      </a:r>
                      <a:endParaRPr lang="en-US" dirty="0"/>
                    </a:p>
                  </a:txBody>
                  <a:tcPr/>
                </a:tc>
                <a:tc>
                  <a:txBody>
                    <a:bodyPr/>
                    <a:lstStyle/>
                    <a:p>
                      <a:r>
                        <a:rPr lang="en-US" dirty="0" smtClean="0"/>
                        <a:t>RESULT</a:t>
                      </a:r>
                      <a:r>
                        <a:rPr lang="en-US" baseline="0" dirty="0" smtClean="0"/>
                        <a:t> </a:t>
                      </a:r>
                      <a:endParaRPr lang="en-US" dirty="0"/>
                    </a:p>
                  </a:txBody>
                  <a:tcPr/>
                </a:tc>
                <a:tc>
                  <a:txBody>
                    <a:bodyPr/>
                    <a:lstStyle/>
                    <a:p>
                      <a:r>
                        <a:rPr lang="en-US" dirty="0" smtClean="0"/>
                        <a:t>REMARK</a:t>
                      </a:r>
                      <a:endParaRPr lang="en-US" dirty="0"/>
                    </a:p>
                  </a:txBody>
                  <a:tcPr/>
                </a:tc>
              </a:tr>
              <a:tr h="2638995">
                <a:tc>
                  <a:txBody>
                    <a:bodyPr/>
                    <a:lstStyle/>
                    <a:p>
                      <a:r>
                        <a:rPr lang="en-US" dirty="0" smtClean="0">
                          <a:latin typeface="Bodoni MT" panose="02070603080606020203" pitchFamily="18" charset="0"/>
                        </a:rPr>
                        <a:t>1.</a:t>
                      </a:r>
                      <a:endParaRPr lang="en-US" dirty="0">
                        <a:latin typeface="Bodoni MT" panose="02070603080606020203" pitchFamily="18" charset="0"/>
                      </a:endParaRPr>
                    </a:p>
                  </a:txBody>
                  <a:tcPr/>
                </a:tc>
                <a:tc>
                  <a:txBody>
                    <a:bodyPr/>
                    <a:lstStyle/>
                    <a:p>
                      <a:r>
                        <a:rPr lang="en-US" dirty="0" smtClean="0">
                          <a:latin typeface="Bodoni MT" panose="02070603080606020203" pitchFamily="18" charset="0"/>
                        </a:rPr>
                        <a:t>Williams (2018)</a:t>
                      </a:r>
                      <a:endParaRPr lang="en-US" dirty="0">
                        <a:latin typeface="Bodoni MT" panose="02070603080606020203" pitchFamily="18" charset="0"/>
                      </a:endParaRPr>
                    </a:p>
                  </a:txBody>
                  <a:tcPr/>
                </a:tc>
                <a:tc>
                  <a:txBody>
                    <a:bodyPr/>
                    <a:lstStyle/>
                    <a:p>
                      <a:r>
                        <a:rPr lang="en-US" dirty="0" smtClean="0">
                          <a:latin typeface="Bodoni MT" panose="02070603080606020203" pitchFamily="18" charset="0"/>
                        </a:rPr>
                        <a:t>Design and Implementation</a:t>
                      </a:r>
                      <a:r>
                        <a:rPr lang="en-US" baseline="0" dirty="0" smtClean="0">
                          <a:latin typeface="Bodoni MT" panose="02070603080606020203" pitchFamily="18" charset="0"/>
                        </a:rPr>
                        <a:t> of Reservation Management System Case Study: Grand View Hotels</a:t>
                      </a:r>
                    </a:p>
                  </a:txBody>
                  <a:tcPr/>
                </a:tc>
                <a:tc>
                  <a:txBody>
                    <a:bodyPr/>
                    <a:lstStyle/>
                    <a:p>
                      <a:r>
                        <a:rPr lang="en-US" dirty="0" smtClean="0">
                          <a:latin typeface="Bodoni MT" panose="02070603080606020203" pitchFamily="18" charset="0"/>
                        </a:rPr>
                        <a:t>Object Oriented Approach and Feasibility</a:t>
                      </a:r>
                      <a:r>
                        <a:rPr lang="en-US" baseline="0" dirty="0" smtClean="0">
                          <a:latin typeface="Bodoni MT" panose="02070603080606020203" pitchFamily="18" charset="0"/>
                        </a:rPr>
                        <a:t> Study</a:t>
                      </a:r>
                      <a:endParaRPr lang="en-US" dirty="0">
                        <a:latin typeface="Bodoni MT" panose="02070603080606020203" pitchFamily="18" charset="0"/>
                      </a:endParaRPr>
                    </a:p>
                  </a:txBody>
                  <a:tcPr/>
                </a:tc>
                <a:tc>
                  <a:txBody>
                    <a:bodyPr/>
                    <a:lstStyle/>
                    <a:p>
                      <a:r>
                        <a:rPr lang="en-US" dirty="0" smtClean="0">
                          <a:latin typeface="Bodoni MT" panose="02070603080606020203" pitchFamily="18" charset="0"/>
                        </a:rPr>
                        <a:t>Forms</a:t>
                      </a:r>
                      <a:r>
                        <a:rPr lang="en-US" baseline="0" dirty="0" smtClean="0">
                          <a:latin typeface="Bodoni MT" panose="02070603080606020203" pitchFamily="18" charset="0"/>
                        </a:rPr>
                        <a:t> proved to be an efficient way of inputting user records into the reservation system</a:t>
                      </a:r>
                      <a:endParaRPr lang="en-US" dirty="0">
                        <a:latin typeface="Bodoni MT" panose="02070603080606020203" pitchFamily="18" charset="0"/>
                      </a:endParaRPr>
                    </a:p>
                  </a:txBody>
                  <a:tcPr/>
                </a:tc>
                <a:tc>
                  <a:txBody>
                    <a:bodyPr/>
                    <a:lstStyle/>
                    <a:p>
                      <a:r>
                        <a:rPr lang="en-US" dirty="0" smtClean="0">
                          <a:latin typeface="Bodoni MT" panose="02070603080606020203" pitchFamily="18" charset="0"/>
                        </a:rPr>
                        <a:t>The </a:t>
                      </a:r>
                      <a:r>
                        <a:rPr lang="en-US" baseline="0" dirty="0" smtClean="0">
                          <a:latin typeface="Bodoni MT" panose="02070603080606020203" pitchFamily="18" charset="0"/>
                        </a:rPr>
                        <a:t>research finding showed emphasized on the importance of implementing an accounting system and management information system to serve the need of the hotel</a:t>
                      </a:r>
                      <a:endParaRPr lang="en-US" dirty="0">
                        <a:latin typeface="Bodoni MT" panose="02070603080606020203" pitchFamily="18" charset="0"/>
                      </a:endParaRPr>
                    </a:p>
                  </a:txBody>
                  <a:tcPr/>
                </a:tc>
              </a:tr>
              <a:tr h="2921744">
                <a:tc>
                  <a:txBody>
                    <a:bodyPr/>
                    <a:lstStyle/>
                    <a:p>
                      <a:r>
                        <a:rPr lang="en-US" dirty="0" smtClean="0">
                          <a:latin typeface="Bodoni MT" panose="02070603080606020203" pitchFamily="18" charset="0"/>
                        </a:rPr>
                        <a:t>2</a:t>
                      </a:r>
                      <a:endParaRPr lang="en-US" dirty="0">
                        <a:latin typeface="Bodoni MT" panose="02070603080606020203" pitchFamily="18" charset="0"/>
                      </a:endParaRPr>
                    </a:p>
                  </a:txBody>
                  <a:tcPr/>
                </a:tc>
                <a:tc>
                  <a:txBody>
                    <a:bodyPr/>
                    <a:lstStyle/>
                    <a:p>
                      <a:r>
                        <a:rPr lang="en-US" dirty="0" err="1" smtClean="0">
                          <a:latin typeface="Bodoni MT" panose="02070603080606020203" pitchFamily="18" charset="0"/>
                        </a:rPr>
                        <a:t>Bemille</a:t>
                      </a:r>
                      <a:r>
                        <a:rPr lang="en-US" dirty="0" smtClean="0">
                          <a:latin typeface="Bodoni MT" panose="02070603080606020203" pitchFamily="18" charset="0"/>
                        </a:rPr>
                        <a:t> (2014)</a:t>
                      </a:r>
                      <a:endParaRPr lang="en-US" dirty="0">
                        <a:latin typeface="Bodoni MT" panose="02070603080606020203" pitchFamily="18" charset="0"/>
                      </a:endParaRPr>
                    </a:p>
                  </a:txBody>
                  <a:tcPr/>
                </a:tc>
                <a:tc>
                  <a:txBody>
                    <a:bodyPr/>
                    <a:lstStyle/>
                    <a:p>
                      <a:r>
                        <a:rPr lang="en-US" dirty="0" smtClean="0">
                          <a:latin typeface="Bodoni MT" panose="02070603080606020203" pitchFamily="18" charset="0"/>
                        </a:rPr>
                        <a:t>Development</a:t>
                      </a:r>
                      <a:r>
                        <a:rPr lang="en-US" baseline="0" dirty="0" smtClean="0">
                          <a:latin typeface="Bodoni MT" panose="02070603080606020203" pitchFamily="18" charset="0"/>
                        </a:rPr>
                        <a:t> of an Online Hotel reservation system to replace the manual booking process </a:t>
                      </a:r>
                      <a:endParaRPr lang="en-US" dirty="0">
                        <a:latin typeface="Bodoni MT" panose="02070603080606020203" pitchFamily="18" charset="0"/>
                      </a:endParaRPr>
                    </a:p>
                  </a:txBody>
                  <a:tcPr/>
                </a:tc>
                <a:tc>
                  <a:txBody>
                    <a:bodyPr/>
                    <a:lstStyle/>
                    <a:p>
                      <a:r>
                        <a:rPr lang="en-US" dirty="0" smtClean="0">
                          <a:latin typeface="Bodoni MT" panose="02070603080606020203" pitchFamily="18" charset="0"/>
                        </a:rPr>
                        <a:t>Macromedia</a:t>
                      </a:r>
                      <a:r>
                        <a:rPr lang="en-US" baseline="0" dirty="0" smtClean="0">
                          <a:latin typeface="Bodoni MT" panose="02070603080606020203" pitchFamily="18" charset="0"/>
                        </a:rPr>
                        <a:t> dream weaver was used due to </a:t>
                      </a:r>
                    </a:p>
                    <a:p>
                      <a:r>
                        <a:rPr lang="en-US" baseline="0" dirty="0" smtClean="0">
                          <a:latin typeface="Bodoni MT" panose="02070603080606020203" pitchFamily="18" charset="0"/>
                        </a:rPr>
                        <a:t>its user friendly features </a:t>
                      </a:r>
                      <a:endParaRPr lang="en-US" dirty="0">
                        <a:latin typeface="Bodoni MT" panose="02070603080606020203" pitchFamily="18" charset="0"/>
                      </a:endParaRPr>
                    </a:p>
                  </a:txBody>
                  <a:tcPr/>
                </a:tc>
                <a:tc>
                  <a:txBody>
                    <a:bodyPr/>
                    <a:lstStyle/>
                    <a:p>
                      <a:r>
                        <a:rPr lang="en-US" dirty="0" smtClean="0">
                          <a:latin typeface="Bodoni MT" panose="02070603080606020203" pitchFamily="18" charset="0"/>
                        </a:rPr>
                        <a:t>Proper</a:t>
                      </a:r>
                      <a:r>
                        <a:rPr lang="en-US" baseline="0" dirty="0" smtClean="0">
                          <a:latin typeface="Bodoni MT" panose="02070603080606020203" pitchFamily="18" charset="0"/>
                        </a:rPr>
                        <a:t> storing  of customer records was achieved with the new system, now </a:t>
                      </a:r>
                      <a:r>
                        <a:rPr lang="en-US" sz="1800" b="0" i="0" u="none" strike="noStrike" kern="1200" baseline="0" dirty="0" smtClean="0">
                          <a:solidFill>
                            <a:schemeClr val="dk1"/>
                          </a:solidFill>
                          <a:latin typeface="Bodoni MT" panose="02070603080606020203" pitchFamily="18" charset="0"/>
                          <a:ea typeface="+mn-ea"/>
                          <a:cs typeface="+mn-cs"/>
                        </a:rPr>
                        <a:t>The hotel’s advertising effort is now accompanied by a virtual tour created on the system </a:t>
                      </a:r>
                      <a:endParaRPr lang="en-US" dirty="0">
                        <a:latin typeface="Bodoni MT" panose="02070603080606020203"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Bodoni MT" panose="02070603080606020203" pitchFamily="18" charset="0"/>
                        </a:rPr>
                        <a:t>The</a:t>
                      </a:r>
                      <a:r>
                        <a:rPr lang="en-US" baseline="0" dirty="0" smtClean="0">
                          <a:latin typeface="Bodoni MT" panose="02070603080606020203" pitchFamily="18" charset="0"/>
                        </a:rPr>
                        <a:t> study did not show relevant diagrammatic models developed that were used to design the reservation system</a:t>
                      </a:r>
                      <a:endParaRPr lang="en-US" dirty="0">
                        <a:latin typeface="Bodoni MT" panose="02070603080606020203" pitchFamily="18" charset="0"/>
                      </a:endParaRPr>
                    </a:p>
                  </a:txBody>
                  <a:tcPr/>
                </a:tc>
              </a:tr>
            </a:tbl>
          </a:graphicData>
        </a:graphic>
      </p:graphicFrame>
    </p:spTree>
    <p:extLst>
      <p:ext uri="{BB962C8B-B14F-4D97-AF65-F5344CB8AC3E}">
        <p14:creationId xmlns:p14="http://schemas.microsoft.com/office/powerpoint/2010/main" val="256024577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939399055"/>
              </p:ext>
            </p:extLst>
          </p:nvPr>
        </p:nvGraphicFramePr>
        <p:xfrm>
          <a:off x="295422" y="112080"/>
          <a:ext cx="11549574" cy="6516787"/>
        </p:xfrm>
        <a:graphic>
          <a:graphicData uri="http://schemas.openxmlformats.org/drawingml/2006/table">
            <a:tbl>
              <a:tblPr firstRow="1" bandRow="1">
                <a:tableStyleId>{5C22544A-7EE6-4342-B048-85BDC9FD1C3A}</a:tableStyleId>
              </a:tblPr>
              <a:tblGrid>
                <a:gridCol w="859813"/>
                <a:gridCol w="2026357"/>
                <a:gridCol w="2314681"/>
                <a:gridCol w="2366601"/>
                <a:gridCol w="2076588"/>
                <a:gridCol w="1905534"/>
              </a:tblGrid>
              <a:tr h="1145912">
                <a:tc>
                  <a:txBody>
                    <a:bodyPr/>
                    <a:lstStyle/>
                    <a:p>
                      <a:r>
                        <a:rPr lang="en-US" dirty="0" smtClean="0">
                          <a:latin typeface="Bodoni MT" panose="02070603080606020203" pitchFamily="18" charset="0"/>
                        </a:rPr>
                        <a:t>S/N</a:t>
                      </a:r>
                      <a:endParaRPr lang="en-US" dirty="0">
                        <a:latin typeface="Bodoni MT" panose="02070603080606020203" pitchFamily="18" charset="0"/>
                      </a:endParaRPr>
                    </a:p>
                  </a:txBody>
                  <a:tcPr/>
                </a:tc>
                <a:tc>
                  <a:txBody>
                    <a:bodyPr/>
                    <a:lstStyle/>
                    <a:p>
                      <a:r>
                        <a:rPr lang="en-US" dirty="0" smtClean="0">
                          <a:latin typeface="Bodoni MT" panose="02070603080606020203" pitchFamily="18" charset="0"/>
                        </a:rPr>
                        <a:t>AUTHOR(s) and DATE</a:t>
                      </a:r>
                      <a:endParaRPr lang="en-US" dirty="0">
                        <a:latin typeface="Bodoni MT" panose="02070603080606020203" pitchFamily="18" charset="0"/>
                      </a:endParaRPr>
                    </a:p>
                  </a:txBody>
                  <a:tcPr/>
                </a:tc>
                <a:tc>
                  <a:txBody>
                    <a:bodyPr/>
                    <a:lstStyle/>
                    <a:p>
                      <a:r>
                        <a:rPr lang="en-US" dirty="0" smtClean="0">
                          <a:latin typeface="Bodoni MT" panose="02070603080606020203" pitchFamily="18" charset="0"/>
                        </a:rPr>
                        <a:t>PROBLEM ADDRESSED</a:t>
                      </a:r>
                      <a:endParaRPr lang="en-US" dirty="0">
                        <a:latin typeface="Bodoni MT" panose="02070603080606020203" pitchFamily="18" charset="0"/>
                      </a:endParaRPr>
                    </a:p>
                  </a:txBody>
                  <a:tcPr/>
                </a:tc>
                <a:tc>
                  <a:txBody>
                    <a:bodyPr/>
                    <a:lstStyle/>
                    <a:p>
                      <a:r>
                        <a:rPr lang="en-US" dirty="0" smtClean="0">
                          <a:latin typeface="Bodoni MT" panose="02070603080606020203" pitchFamily="18" charset="0"/>
                        </a:rPr>
                        <a:t>METHODOLOGY</a:t>
                      </a:r>
                      <a:r>
                        <a:rPr lang="en-US" baseline="0" dirty="0" smtClean="0">
                          <a:latin typeface="Bodoni MT" panose="02070603080606020203" pitchFamily="18" charset="0"/>
                        </a:rPr>
                        <a:t> EMPLYOYED</a:t>
                      </a:r>
                      <a:endParaRPr lang="en-US" dirty="0">
                        <a:latin typeface="Bodoni MT" panose="02070603080606020203" pitchFamily="18" charset="0"/>
                      </a:endParaRPr>
                    </a:p>
                  </a:txBody>
                  <a:tcPr/>
                </a:tc>
                <a:tc>
                  <a:txBody>
                    <a:bodyPr/>
                    <a:lstStyle/>
                    <a:p>
                      <a:r>
                        <a:rPr lang="en-US" dirty="0" smtClean="0">
                          <a:latin typeface="Bodoni MT" panose="02070603080606020203" pitchFamily="18" charset="0"/>
                        </a:rPr>
                        <a:t>RESULT</a:t>
                      </a:r>
                      <a:r>
                        <a:rPr lang="en-US" dirty="0" smtClean="0"/>
                        <a:t> </a:t>
                      </a:r>
                      <a:endParaRPr lang="en-US" dirty="0"/>
                    </a:p>
                  </a:txBody>
                  <a:tcPr/>
                </a:tc>
                <a:tc>
                  <a:txBody>
                    <a:bodyPr/>
                    <a:lstStyle/>
                    <a:p>
                      <a:r>
                        <a:rPr lang="en-US" dirty="0" smtClean="0">
                          <a:latin typeface="Bodoni MT" panose="02070603080606020203" pitchFamily="18" charset="0"/>
                        </a:rPr>
                        <a:t>REMARK</a:t>
                      </a:r>
                      <a:endParaRPr lang="en-US" dirty="0">
                        <a:latin typeface="Bodoni MT" panose="02070603080606020203" pitchFamily="18" charset="0"/>
                      </a:endParaRPr>
                    </a:p>
                  </a:txBody>
                  <a:tcPr/>
                </a:tc>
              </a:tr>
              <a:tr h="2536235">
                <a:tc>
                  <a:txBody>
                    <a:bodyPr/>
                    <a:lstStyle/>
                    <a:p>
                      <a:r>
                        <a:rPr lang="en-US" dirty="0" smtClean="0">
                          <a:latin typeface="Bodoni MT" panose="02070603080606020203" pitchFamily="18" charset="0"/>
                        </a:rPr>
                        <a:t>3</a:t>
                      </a:r>
                      <a:endParaRPr lang="en-US" dirty="0">
                        <a:latin typeface="Bodoni MT" panose="02070603080606020203" pitchFamily="18" charset="0"/>
                      </a:endParaRPr>
                    </a:p>
                  </a:txBody>
                  <a:tcPr/>
                </a:tc>
                <a:tc>
                  <a:txBody>
                    <a:bodyPr/>
                    <a:lstStyle/>
                    <a:p>
                      <a:r>
                        <a:rPr lang="en-US" dirty="0" smtClean="0">
                          <a:latin typeface="Bodoni MT" panose="02070603080606020203" pitchFamily="18" charset="0"/>
                        </a:rPr>
                        <a:t>Adams</a:t>
                      </a:r>
                      <a:r>
                        <a:rPr lang="en-US" baseline="0" dirty="0" smtClean="0">
                          <a:latin typeface="Bodoni MT" panose="02070603080606020203" pitchFamily="18" charset="0"/>
                        </a:rPr>
                        <a:t>(2017)</a:t>
                      </a:r>
                      <a:endParaRPr lang="en-US" dirty="0">
                        <a:latin typeface="Bodoni MT" panose="02070603080606020203" pitchFamily="18" charset="0"/>
                      </a:endParaRPr>
                    </a:p>
                  </a:txBody>
                  <a:tcPr/>
                </a:tc>
                <a:tc>
                  <a:txBody>
                    <a:bodyPr/>
                    <a:lstStyle/>
                    <a:p>
                      <a:r>
                        <a:rPr lang="en-US" dirty="0" smtClean="0">
                          <a:latin typeface="Bodoni MT" panose="02070603080606020203" pitchFamily="18" charset="0"/>
                        </a:rPr>
                        <a:t>Development of an Online Reservation System for Ta’al Hotel</a:t>
                      </a:r>
                      <a:endParaRPr lang="en-US" dirty="0">
                        <a:latin typeface="Bodoni MT" panose="02070603080606020203" pitchFamily="18" charset="0"/>
                      </a:endParaRPr>
                    </a:p>
                  </a:txBody>
                  <a:tcPr/>
                </a:tc>
                <a:tc>
                  <a:txBody>
                    <a:bodyPr/>
                    <a:lstStyle/>
                    <a:p>
                      <a:r>
                        <a:rPr lang="en-US" dirty="0" smtClean="0">
                          <a:latin typeface="Bodoni MT" panose="02070603080606020203" pitchFamily="18" charset="0"/>
                        </a:rPr>
                        <a:t>Software Development Life Cycle</a:t>
                      </a:r>
                      <a:r>
                        <a:rPr lang="en-US" baseline="0" dirty="0" smtClean="0">
                          <a:latin typeface="Bodoni MT" panose="02070603080606020203" pitchFamily="18" charset="0"/>
                        </a:rPr>
                        <a:t> was adopted, observations and Agile Software Development</a:t>
                      </a:r>
                      <a:endParaRPr lang="en-US" dirty="0">
                        <a:latin typeface="Bodoni MT" panose="02070603080606020203" pitchFamily="18" charset="0"/>
                      </a:endParaRPr>
                    </a:p>
                  </a:txBody>
                  <a:tcPr/>
                </a:tc>
                <a:tc>
                  <a:txBody>
                    <a:bodyPr/>
                    <a:lstStyle/>
                    <a:p>
                      <a:r>
                        <a:rPr lang="en-US" dirty="0" smtClean="0">
                          <a:latin typeface="Bodoni MT" panose="02070603080606020203" pitchFamily="18" charset="0"/>
                        </a:rPr>
                        <a:t>Customers</a:t>
                      </a:r>
                      <a:r>
                        <a:rPr lang="en-US" baseline="0" dirty="0" smtClean="0">
                          <a:latin typeface="Bodoni MT" panose="02070603080606020203" pitchFamily="18" charset="0"/>
                        </a:rPr>
                        <a:t> were able to make reservations successfully but were unable to make online payment</a:t>
                      </a:r>
                      <a:endParaRPr lang="en-US" dirty="0">
                        <a:latin typeface="Bodoni MT" panose="02070603080606020203" pitchFamily="18" charset="0"/>
                      </a:endParaRPr>
                    </a:p>
                  </a:txBody>
                  <a:tcPr/>
                </a:tc>
                <a:tc>
                  <a:txBody>
                    <a:bodyPr/>
                    <a:lstStyle/>
                    <a:p>
                      <a:r>
                        <a:rPr lang="en-US" dirty="0" smtClean="0">
                          <a:latin typeface="Bodoni MT" panose="02070603080606020203" pitchFamily="18" charset="0"/>
                        </a:rPr>
                        <a:t>They study was able to properly show designs used to</a:t>
                      </a:r>
                      <a:r>
                        <a:rPr lang="en-US" baseline="0" dirty="0" smtClean="0">
                          <a:latin typeface="Bodoni MT" panose="02070603080606020203" pitchFamily="18" charset="0"/>
                        </a:rPr>
                        <a:t> develop the reservation which made it easier to understand</a:t>
                      </a:r>
                      <a:endParaRPr lang="en-US" dirty="0">
                        <a:latin typeface="Bodoni MT" panose="02070603080606020203" pitchFamily="18" charset="0"/>
                      </a:endParaRPr>
                    </a:p>
                  </a:txBody>
                  <a:tcPr/>
                </a:tc>
              </a:tr>
              <a:tr h="2536235">
                <a:tc>
                  <a:txBody>
                    <a:bodyPr/>
                    <a:lstStyle/>
                    <a:p>
                      <a:r>
                        <a:rPr lang="en-US" dirty="0" smtClean="0"/>
                        <a:t>4</a:t>
                      </a:r>
                      <a:endParaRPr lang="en-US" dirty="0"/>
                    </a:p>
                  </a:txBody>
                  <a:tcPr/>
                </a:tc>
                <a:tc>
                  <a:txBody>
                    <a:bodyPr/>
                    <a:lstStyle/>
                    <a:p>
                      <a:r>
                        <a:rPr lang="en-US" dirty="0" smtClean="0">
                          <a:latin typeface="Bodoni MT" panose="02070603080606020203" pitchFamily="18" charset="0"/>
                        </a:rPr>
                        <a:t>Anuar(2013)</a:t>
                      </a:r>
                      <a:endParaRPr lang="en-US" dirty="0">
                        <a:latin typeface="Bodoni MT" panose="02070603080606020203" pitchFamily="18" charset="0"/>
                      </a:endParaRPr>
                    </a:p>
                  </a:txBody>
                  <a:tcPr/>
                </a:tc>
                <a:tc>
                  <a:txBody>
                    <a:bodyPr/>
                    <a:lstStyle/>
                    <a:p>
                      <a:r>
                        <a:rPr lang="en-US" dirty="0" smtClean="0">
                          <a:latin typeface="Bodoni MT" panose="02070603080606020203" pitchFamily="18" charset="0"/>
                        </a:rPr>
                        <a:t>Using Mobile Hotel</a:t>
                      </a:r>
                      <a:r>
                        <a:rPr lang="en-US" baseline="0" dirty="0" smtClean="0">
                          <a:latin typeface="Bodoni MT" panose="02070603080606020203" pitchFamily="18" charset="0"/>
                        </a:rPr>
                        <a:t> Reservation System among 3-5 star City hotels in Malaysia</a:t>
                      </a:r>
                      <a:endParaRPr lang="en-US" dirty="0">
                        <a:latin typeface="Bodoni MT" panose="02070603080606020203" pitchFamily="18" charset="0"/>
                      </a:endParaRPr>
                    </a:p>
                  </a:txBody>
                  <a:tcPr/>
                </a:tc>
                <a:tc>
                  <a:txBody>
                    <a:bodyPr/>
                    <a:lstStyle/>
                    <a:p>
                      <a:r>
                        <a:rPr lang="en-US" dirty="0" smtClean="0">
                          <a:latin typeface="Bodoni MT" panose="02070603080606020203" pitchFamily="18" charset="0"/>
                        </a:rPr>
                        <a:t>In-depth interviews were carried out</a:t>
                      </a:r>
                      <a:r>
                        <a:rPr lang="en-US" baseline="0" dirty="0" smtClean="0">
                          <a:latin typeface="Bodoni MT" panose="02070603080606020203" pitchFamily="18" charset="0"/>
                        </a:rPr>
                        <a:t> to explore the mobile hotel benefits structure</a:t>
                      </a:r>
                      <a:endParaRPr lang="en-US" dirty="0">
                        <a:latin typeface="Bodoni MT" panose="02070603080606020203" pitchFamily="18" charset="0"/>
                      </a:endParaRPr>
                    </a:p>
                  </a:txBody>
                  <a:tcPr/>
                </a:tc>
                <a:tc>
                  <a:txBody>
                    <a:bodyPr/>
                    <a:lstStyle/>
                    <a:p>
                      <a:r>
                        <a:rPr lang="en-US" baseline="0" dirty="0" smtClean="0">
                          <a:latin typeface="Bodoni MT" panose="02070603080606020203" pitchFamily="18" charset="0"/>
                        </a:rPr>
                        <a:t>More knowledge on the importance of Mobile Hotel reservation systems in aiding marketing strategies were explored</a:t>
                      </a:r>
                      <a:endParaRPr lang="en-US" dirty="0">
                        <a:latin typeface="Bodoni MT" panose="02070603080606020203" pitchFamily="18" charset="0"/>
                      </a:endParaRPr>
                    </a:p>
                  </a:txBody>
                  <a:tcPr/>
                </a:tc>
                <a:tc>
                  <a:txBody>
                    <a:bodyPr/>
                    <a:lstStyle/>
                    <a:p>
                      <a:r>
                        <a:rPr lang="en-US" dirty="0" smtClean="0">
                          <a:latin typeface="Bodoni MT" panose="02070603080606020203" pitchFamily="18" charset="0"/>
                        </a:rPr>
                        <a:t>This study showed</a:t>
                      </a:r>
                      <a:r>
                        <a:rPr lang="en-US" baseline="0" dirty="0" smtClean="0">
                          <a:latin typeface="Bodoni MT" panose="02070603080606020203" pitchFamily="18" charset="0"/>
                        </a:rPr>
                        <a:t> the core benefits of mobile hotel reservation system such as Convenient Access, Customer support center etc.</a:t>
                      </a:r>
                      <a:endParaRPr lang="en-US" dirty="0">
                        <a:latin typeface="Bodoni MT" panose="02070603080606020203" pitchFamily="18" charset="0"/>
                      </a:endParaRPr>
                    </a:p>
                  </a:txBody>
                  <a:tcPr/>
                </a:tc>
              </a:tr>
            </a:tbl>
          </a:graphicData>
        </a:graphic>
      </p:graphicFrame>
    </p:spTree>
    <p:extLst>
      <p:ext uri="{BB962C8B-B14F-4D97-AF65-F5344CB8AC3E}">
        <p14:creationId xmlns:p14="http://schemas.microsoft.com/office/powerpoint/2010/main" val="39542444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4495" y="1124701"/>
            <a:ext cx="10146186" cy="613947"/>
          </a:xfrm>
        </p:spPr>
        <p:txBody>
          <a:bodyPr/>
          <a:lstStyle/>
          <a:p>
            <a:r>
              <a:rPr lang="en-US" dirty="0" smtClean="0">
                <a:latin typeface="Bodoni MT" panose="02070603080606020203" pitchFamily="18" charset="0"/>
              </a:rPr>
              <a:t>PROPOESD SYSTEM</a:t>
            </a:r>
            <a:endParaRPr lang="en-US" dirty="0">
              <a:latin typeface="Bodoni MT" panose="02070603080606020203" pitchFamily="18" charset="0"/>
            </a:endParaRPr>
          </a:p>
        </p:txBody>
      </p:sp>
      <p:sp>
        <p:nvSpPr>
          <p:cNvPr id="3" name="Text Placeholder 2"/>
          <p:cNvSpPr>
            <a:spLocks noGrp="1"/>
          </p:cNvSpPr>
          <p:nvPr>
            <p:ph type="body" sz="half" idx="2"/>
          </p:nvPr>
        </p:nvSpPr>
        <p:spPr>
          <a:xfrm>
            <a:off x="1024467" y="1738649"/>
            <a:ext cx="10144654" cy="2909552"/>
          </a:xfrm>
        </p:spPr>
        <p:txBody>
          <a:bodyPr>
            <a:normAutofit fontScale="92500"/>
          </a:bodyPr>
          <a:lstStyle/>
          <a:p>
            <a:pPr>
              <a:lnSpc>
                <a:spcPct val="200000"/>
              </a:lnSpc>
            </a:pPr>
            <a:r>
              <a:rPr lang="en-US" sz="2400" dirty="0" smtClean="0">
                <a:latin typeface="Bodoni MT" panose="02070603080606020203" pitchFamily="18" charset="0"/>
              </a:rPr>
              <a:t>As a replacement for the manual system currently used to make bookings in the Guest House. The proposed system is to develop an Online Reservation System to improve efficiency making bookings, manage customer details and also make it easier for future visitors to inquire for information when trying to book accommodation. </a:t>
            </a:r>
            <a:endParaRPr lang="en-US" sz="2400" dirty="0">
              <a:latin typeface="Bodoni MT" panose="02070603080606020203" pitchFamily="18" charset="0"/>
            </a:endParaRPr>
          </a:p>
        </p:txBody>
      </p:sp>
    </p:spTree>
    <p:extLst>
      <p:ext uri="{BB962C8B-B14F-4D97-AF65-F5344CB8AC3E}">
        <p14:creationId xmlns:p14="http://schemas.microsoft.com/office/powerpoint/2010/main" val="187724648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25003" y="515155"/>
            <a:ext cx="11294772" cy="5509200"/>
          </a:xfrm>
          <a:prstGeom prst="rect">
            <a:avLst/>
          </a:prstGeom>
          <a:noFill/>
        </p:spPr>
        <p:txBody>
          <a:bodyPr wrap="square" rtlCol="0">
            <a:spAutoFit/>
          </a:bodyPr>
          <a:lstStyle/>
          <a:p>
            <a:r>
              <a:rPr lang="en-US" sz="3200" dirty="0" smtClean="0">
                <a:latin typeface="Bodoni MT" panose="02070603080606020203" pitchFamily="18" charset="0"/>
              </a:rPr>
              <a:t>SYSTEM DESIGN </a:t>
            </a:r>
          </a:p>
          <a:p>
            <a:pPr>
              <a:lnSpc>
                <a:spcPct val="200000"/>
              </a:lnSpc>
            </a:pPr>
            <a:r>
              <a:rPr lang="en-US" sz="2000" dirty="0" smtClean="0">
                <a:latin typeface="Times New Roman" panose="02020603050405020304" pitchFamily="18" charset="0"/>
                <a:cs typeface="Times New Roman" panose="02020603050405020304" pitchFamily="18" charset="0"/>
              </a:rPr>
              <a:t>A system </a:t>
            </a:r>
            <a:r>
              <a:rPr lang="en-US" sz="2000" dirty="0">
                <a:latin typeface="Times New Roman" panose="02020603050405020304" pitchFamily="18" charset="0"/>
                <a:cs typeface="Times New Roman" panose="02020603050405020304" pitchFamily="18" charset="0"/>
              </a:rPr>
              <a:t>design stage states how the design of the system will be constructed with high emphasis on the model and approach through which the system would be developed. It describes the flow of processes to accomplish the logical design of the system which includes the architectural, </a:t>
            </a:r>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use </a:t>
            </a:r>
            <a:r>
              <a:rPr lang="en-US" sz="2000" dirty="0" smtClean="0">
                <a:latin typeface="Times New Roman" panose="02020603050405020304" pitchFamily="18" charset="0"/>
                <a:cs typeface="Times New Roman" panose="02020603050405020304" pitchFamily="18" charset="0"/>
              </a:rPr>
              <a:t>case, flow charts and activity diagrams.</a:t>
            </a:r>
          </a:p>
          <a:p>
            <a:endParaRPr lang="en-US" sz="2000" dirty="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The following design are used for the project</a:t>
            </a:r>
          </a:p>
          <a:p>
            <a:pPr marL="457200" indent="-457200">
              <a:buAutoNum type="arabicPeriod"/>
            </a:pPr>
            <a:r>
              <a:rPr lang="en-US" sz="2000" dirty="0" smtClean="0">
                <a:latin typeface="Times New Roman" panose="02020603050405020304" pitchFamily="18" charset="0"/>
                <a:cs typeface="Times New Roman" panose="02020603050405020304" pitchFamily="18" charset="0"/>
              </a:rPr>
              <a:t>Use case </a:t>
            </a:r>
            <a:r>
              <a:rPr lang="en-US" sz="2000" dirty="0" smtClean="0">
                <a:latin typeface="Times New Roman" panose="02020603050405020304" pitchFamily="18" charset="0"/>
                <a:cs typeface="Times New Roman" panose="02020603050405020304" pitchFamily="18" charset="0"/>
              </a:rPr>
              <a:t>Design</a:t>
            </a:r>
          </a:p>
          <a:p>
            <a:pPr marL="457200" indent="-457200">
              <a:buAutoNum type="arabicPeriod"/>
            </a:pPr>
            <a:endParaRPr lang="en-US" sz="2000" dirty="0" smtClean="0">
              <a:latin typeface="Times New Roman" panose="02020603050405020304" pitchFamily="18" charset="0"/>
              <a:cs typeface="Times New Roman" panose="02020603050405020304" pitchFamily="18" charset="0"/>
            </a:endParaRPr>
          </a:p>
          <a:p>
            <a:pPr marL="457200" indent="-457200">
              <a:buAutoNum type="arabicPeriod"/>
            </a:pPr>
            <a:r>
              <a:rPr lang="en-US" sz="2000" dirty="0" smtClean="0">
                <a:latin typeface="Times New Roman" panose="02020603050405020304" pitchFamily="18" charset="0"/>
                <a:cs typeface="Times New Roman" panose="02020603050405020304" pitchFamily="18" charset="0"/>
              </a:rPr>
              <a:t>System Architecture </a:t>
            </a:r>
            <a:r>
              <a:rPr lang="en-US" sz="2000" dirty="0" smtClean="0">
                <a:latin typeface="Times New Roman" panose="02020603050405020304" pitchFamily="18" charset="0"/>
                <a:cs typeface="Times New Roman" panose="02020603050405020304" pitchFamily="18" charset="0"/>
              </a:rPr>
              <a:t>Design</a:t>
            </a:r>
          </a:p>
          <a:p>
            <a:endParaRPr lang="en-US" sz="2000" dirty="0" smtClean="0">
              <a:latin typeface="Times New Roman" panose="02020603050405020304" pitchFamily="18" charset="0"/>
              <a:cs typeface="Times New Roman" panose="02020603050405020304" pitchFamily="18" charset="0"/>
            </a:endParaRPr>
          </a:p>
          <a:p>
            <a:pPr marL="457200" indent="-457200">
              <a:buAutoNum type="arabicPeriod"/>
            </a:pPr>
            <a:r>
              <a:rPr lang="en-US" sz="2000" dirty="0" smtClean="0">
                <a:latin typeface="Times New Roman" panose="02020603050405020304" pitchFamily="18" charset="0"/>
                <a:cs typeface="Times New Roman" panose="02020603050405020304" pitchFamily="18" charset="0"/>
              </a:rPr>
              <a:t>Flow Chart Design for the User and System Admin</a:t>
            </a:r>
            <a:endParaRPr lang="en-US" sz="2000" dirty="0">
              <a:latin typeface="Bodoni MT" panose="02070603080606020203" pitchFamily="18" charset="0"/>
            </a:endParaRPr>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628009" y="4515731"/>
            <a:ext cx="1862581" cy="1862581"/>
          </a:xfrm>
          <a:prstGeom prst="rect">
            <a:avLst/>
          </a:prstGeom>
        </p:spPr>
      </p:pic>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42326" y="2713996"/>
            <a:ext cx="2074291" cy="1955205"/>
          </a:xfrm>
          <a:prstGeom prst="rect">
            <a:avLst/>
          </a:prstGeom>
        </p:spPr>
      </p:pic>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17797" y="3445690"/>
            <a:ext cx="1648264" cy="1648264"/>
          </a:xfrm>
          <a:prstGeom prst="rect">
            <a:avLst/>
          </a:prstGeom>
        </p:spPr>
      </p:pic>
    </p:spTree>
    <p:extLst>
      <p:ext uri="{BB962C8B-B14F-4D97-AF65-F5344CB8AC3E}">
        <p14:creationId xmlns:p14="http://schemas.microsoft.com/office/powerpoint/2010/main" val="14741802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476518" y="347730"/>
            <a:ext cx="11269014" cy="523220"/>
          </a:xfrm>
          <a:prstGeom prst="rect">
            <a:avLst/>
          </a:prstGeom>
          <a:noFill/>
        </p:spPr>
        <p:txBody>
          <a:bodyPr wrap="square" rtlCol="0">
            <a:spAutoFit/>
          </a:bodyPr>
          <a:lstStyle/>
          <a:p>
            <a:r>
              <a:rPr lang="en-US" sz="2800" dirty="0" smtClean="0">
                <a:latin typeface="Bodoni MT" panose="02070603080606020203" pitchFamily="18" charset="0"/>
              </a:rPr>
              <a:t>System Architecture</a:t>
            </a:r>
            <a:endParaRPr lang="en-US" sz="2800" dirty="0">
              <a:latin typeface="Bodoni MT" panose="02070603080606020203" pitchFamily="18" charset="0"/>
            </a:endParaRP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8186" y="870950"/>
            <a:ext cx="11037194" cy="5915914"/>
          </a:xfrm>
          <a:prstGeom prst="rect">
            <a:avLst/>
          </a:prstGeom>
        </p:spPr>
      </p:pic>
    </p:spTree>
    <p:extLst>
      <p:ext uri="{BB962C8B-B14F-4D97-AF65-F5344CB8AC3E}">
        <p14:creationId xmlns:p14="http://schemas.microsoft.com/office/powerpoint/2010/main" val="387344772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515154" y="301028"/>
            <a:ext cx="11127347" cy="523220"/>
          </a:xfrm>
          <a:prstGeom prst="rect">
            <a:avLst/>
          </a:prstGeom>
          <a:noFill/>
        </p:spPr>
        <p:txBody>
          <a:bodyPr wrap="square" rtlCol="0">
            <a:spAutoFit/>
          </a:bodyPr>
          <a:lstStyle/>
          <a:p>
            <a:r>
              <a:rPr lang="en-US" sz="2800" dirty="0" smtClean="0">
                <a:latin typeface="Bodoni MT" panose="02070603080606020203" pitchFamily="18" charset="0"/>
              </a:rPr>
              <a:t>Use Case Diagram</a:t>
            </a:r>
            <a:endParaRPr lang="en-US" sz="2800" dirty="0">
              <a:latin typeface="Bodoni MT" panose="02070603080606020203" pitchFamily="18" charset="0"/>
            </a:endParaRPr>
          </a:p>
        </p:txBody>
      </p:sp>
      <p:pic>
        <p:nvPicPr>
          <p:cNvPr id="8" name="Content Placeholder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8191" y="824248"/>
            <a:ext cx="9447821" cy="5705341"/>
          </a:xfrm>
          <a:prstGeom prst="rect">
            <a:avLst/>
          </a:prstGeom>
        </p:spPr>
      </p:pic>
    </p:spTree>
    <p:extLst>
      <p:ext uri="{BB962C8B-B14F-4D97-AF65-F5344CB8AC3E}">
        <p14:creationId xmlns:p14="http://schemas.microsoft.com/office/powerpoint/2010/main" val="29192073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p:cNvSpPr txBox="1"/>
          <p:nvPr/>
        </p:nvSpPr>
        <p:spPr>
          <a:xfrm>
            <a:off x="283335" y="360608"/>
            <a:ext cx="11500834" cy="400110"/>
          </a:xfrm>
          <a:prstGeom prst="rect">
            <a:avLst/>
          </a:prstGeom>
          <a:noFill/>
        </p:spPr>
        <p:txBody>
          <a:bodyPr wrap="square" rtlCol="0">
            <a:spAutoFit/>
          </a:bodyPr>
          <a:lstStyle/>
          <a:p>
            <a:r>
              <a:rPr lang="en-US" sz="2000" dirty="0" smtClean="0">
                <a:latin typeface="Bodoni MT" panose="02070603080606020203" pitchFamily="18" charset="0"/>
              </a:rPr>
              <a:t>Flow Chart for Guest/User</a:t>
            </a:r>
            <a:endParaRPr lang="en-US" sz="2000" dirty="0">
              <a:latin typeface="Bodoni MT" panose="02070603080606020203" pitchFamily="18" charset="0"/>
            </a:endParaRPr>
          </a:p>
        </p:txBody>
      </p:sp>
      <p:pic>
        <p:nvPicPr>
          <p:cNvPr id="10" name="Content Placeholder 8"/>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2807596" y="656823"/>
            <a:ext cx="5718219" cy="6091707"/>
          </a:xfrm>
          <a:prstGeom prst="rect">
            <a:avLst/>
          </a:prstGeom>
        </p:spPr>
      </p:pic>
    </p:spTree>
    <p:extLst>
      <p:ext uri="{BB962C8B-B14F-4D97-AF65-F5344CB8AC3E}">
        <p14:creationId xmlns:p14="http://schemas.microsoft.com/office/powerpoint/2010/main" val="342506362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47730" y="360608"/>
            <a:ext cx="11423560" cy="461665"/>
          </a:xfrm>
          <a:prstGeom prst="rect">
            <a:avLst/>
          </a:prstGeom>
          <a:noFill/>
        </p:spPr>
        <p:txBody>
          <a:bodyPr wrap="square" rtlCol="0">
            <a:spAutoFit/>
          </a:bodyPr>
          <a:lstStyle/>
          <a:p>
            <a:r>
              <a:rPr lang="en-US" sz="2400" dirty="0" smtClean="0">
                <a:latin typeface="Bodoni MT" panose="02070603080606020203" pitchFamily="18" charset="0"/>
              </a:rPr>
              <a:t>Flow Chart for System Admin</a:t>
            </a:r>
            <a:endParaRPr lang="en-US" sz="2400" dirty="0">
              <a:latin typeface="Bodoni MT" panose="02070603080606020203" pitchFamily="18" charset="0"/>
            </a:endParaRPr>
          </a:p>
        </p:txBody>
      </p:sp>
      <p:pic>
        <p:nvPicPr>
          <p:cNvPr id="8" name="Content Placeholder 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53046" y="822274"/>
            <a:ext cx="7559899" cy="5834836"/>
          </a:xfrm>
        </p:spPr>
      </p:pic>
    </p:spTree>
    <p:extLst>
      <p:ext uri="{BB962C8B-B14F-4D97-AF65-F5344CB8AC3E}">
        <p14:creationId xmlns:p14="http://schemas.microsoft.com/office/powerpoint/2010/main" val="171663540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02276" y="463639"/>
            <a:ext cx="11269014" cy="2985433"/>
          </a:xfrm>
          <a:prstGeom prst="rect">
            <a:avLst/>
          </a:prstGeom>
          <a:noFill/>
        </p:spPr>
        <p:txBody>
          <a:bodyPr wrap="square" rtlCol="0">
            <a:spAutoFit/>
          </a:bodyPr>
          <a:lstStyle/>
          <a:p>
            <a:r>
              <a:rPr lang="en-US" sz="2800" dirty="0" smtClean="0">
                <a:latin typeface="Bodoni MT" panose="02070603080606020203" pitchFamily="18" charset="0"/>
              </a:rPr>
              <a:t>Expected Result </a:t>
            </a:r>
          </a:p>
          <a:p>
            <a:r>
              <a:rPr lang="en-US" sz="2000" dirty="0" smtClean="0">
                <a:latin typeface="Bodoni MT" panose="02070603080606020203" pitchFamily="18" charset="0"/>
              </a:rPr>
              <a:t>1. </a:t>
            </a:r>
            <a:r>
              <a:rPr lang="en-US" sz="2000" dirty="0" smtClean="0">
                <a:latin typeface="Bodoni MT" panose="02070603080606020203" pitchFamily="18" charset="0"/>
              </a:rPr>
              <a:t>Eliminate manual reservation method.</a:t>
            </a:r>
            <a:r>
              <a:rPr lang="en-US" sz="2000" dirty="0" smtClean="0">
                <a:latin typeface="Bodoni MT" panose="02070603080606020203" pitchFamily="18" charset="0"/>
              </a:rPr>
              <a:t> </a:t>
            </a:r>
          </a:p>
          <a:p>
            <a:endParaRPr lang="en-US" sz="2000" dirty="0" smtClean="0">
              <a:latin typeface="Bodoni MT" panose="02070603080606020203" pitchFamily="18" charset="0"/>
            </a:endParaRPr>
          </a:p>
          <a:p>
            <a:r>
              <a:rPr lang="en-US" sz="2000" dirty="0">
                <a:latin typeface="Bodoni MT" panose="02070603080606020203" pitchFamily="18" charset="0"/>
              </a:rPr>
              <a:t>2</a:t>
            </a:r>
            <a:r>
              <a:rPr lang="en-US" sz="2000" dirty="0" smtClean="0">
                <a:latin typeface="Bodoni MT" panose="02070603080606020203" pitchFamily="18" charset="0"/>
              </a:rPr>
              <a:t>. </a:t>
            </a:r>
            <a:r>
              <a:rPr lang="en-US" sz="2000" dirty="0" smtClean="0">
                <a:latin typeface="Bodoni MT" panose="02070603080606020203" pitchFamily="18" charset="0"/>
              </a:rPr>
              <a:t>Provide Online Access to the University Guest Reservation system to enable future Guest/users book rooms remotely.</a:t>
            </a:r>
          </a:p>
          <a:p>
            <a:endParaRPr lang="en-US" sz="2000" dirty="0">
              <a:latin typeface="Bodoni MT" panose="02070603080606020203" pitchFamily="18" charset="0"/>
            </a:endParaRPr>
          </a:p>
          <a:p>
            <a:r>
              <a:rPr lang="en-US" sz="2000" dirty="0">
                <a:latin typeface="Bodoni MT" panose="02070603080606020203" pitchFamily="18" charset="0"/>
              </a:rPr>
              <a:t>3</a:t>
            </a:r>
            <a:r>
              <a:rPr lang="en-US" sz="2000" dirty="0" smtClean="0">
                <a:latin typeface="Bodoni MT" panose="02070603080606020203" pitchFamily="18" charset="0"/>
              </a:rPr>
              <a:t>. </a:t>
            </a:r>
            <a:r>
              <a:rPr lang="en-US" sz="2000" dirty="0" smtClean="0">
                <a:latin typeface="Bodoni MT" panose="02070603080606020203" pitchFamily="18" charset="0"/>
              </a:rPr>
              <a:t>Efficient management of User/Visitor </a:t>
            </a:r>
            <a:r>
              <a:rPr lang="en-US" sz="2000" dirty="0" smtClean="0">
                <a:latin typeface="Bodoni MT" panose="02070603080606020203" pitchFamily="18" charset="0"/>
              </a:rPr>
              <a:t>Transactions.</a:t>
            </a:r>
            <a:endParaRPr lang="en-US" sz="2000" dirty="0" smtClean="0">
              <a:latin typeface="Bodoni MT" panose="02070603080606020203" pitchFamily="18" charset="0"/>
            </a:endParaRPr>
          </a:p>
          <a:p>
            <a:endParaRPr lang="en-US" sz="2000" dirty="0">
              <a:latin typeface="Bodoni MT" panose="02070603080606020203" pitchFamily="18" charset="0"/>
            </a:endParaRPr>
          </a:p>
          <a:p>
            <a:r>
              <a:rPr lang="en-US" sz="2000" dirty="0" smtClean="0">
                <a:latin typeface="Bodoni MT" panose="02070603080606020203" pitchFamily="18" charset="0"/>
              </a:rPr>
              <a:t> </a:t>
            </a:r>
            <a:endParaRPr lang="en-US" sz="2000" dirty="0">
              <a:latin typeface="Bodoni MT" panose="02070603080606020203" pitchFamily="18" charset="0"/>
            </a:endParaRPr>
          </a:p>
        </p:txBody>
      </p:sp>
    </p:spTree>
    <p:extLst>
      <p:ext uri="{BB962C8B-B14F-4D97-AF65-F5344CB8AC3E}">
        <p14:creationId xmlns:p14="http://schemas.microsoft.com/office/powerpoint/2010/main" val="276579694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95459" y="476518"/>
            <a:ext cx="10908406" cy="3108543"/>
          </a:xfrm>
          <a:prstGeom prst="rect">
            <a:avLst/>
          </a:prstGeom>
          <a:noFill/>
        </p:spPr>
        <p:txBody>
          <a:bodyPr wrap="square" rtlCol="0">
            <a:spAutoFit/>
          </a:bodyPr>
          <a:lstStyle/>
          <a:p>
            <a:pPr algn="ctr"/>
            <a:r>
              <a:rPr lang="en-US" sz="3600" dirty="0" smtClean="0">
                <a:latin typeface="Bodoni MT" panose="02070603080606020203" pitchFamily="18" charset="0"/>
              </a:rPr>
              <a:t>Conclusion </a:t>
            </a:r>
          </a:p>
          <a:p>
            <a:pPr>
              <a:lnSpc>
                <a:spcPct val="200000"/>
              </a:lnSpc>
            </a:pPr>
            <a:r>
              <a:rPr lang="en-US" sz="2000" dirty="0" smtClean="0">
                <a:latin typeface="Bodoni MT" panose="02070603080606020203" pitchFamily="18" charset="0"/>
              </a:rPr>
              <a:t>Reservation systems has made the process of booking easier for both Guests and System Admins, the incorporation of reservation systems into the hotel industry has helped drastically in managing records efficiently and faster leading to increased productivity and comfort. This </a:t>
            </a:r>
            <a:r>
              <a:rPr lang="en-US" sz="2000" dirty="0" smtClean="0">
                <a:latin typeface="Bodoni MT" panose="02070603080606020203" pitchFamily="18" charset="0"/>
              </a:rPr>
              <a:t>project will </a:t>
            </a:r>
            <a:r>
              <a:rPr lang="en-US" sz="2000" dirty="0" err="1" smtClean="0">
                <a:latin typeface="Bodoni MT" panose="02070603080606020203" pitchFamily="18" charset="0"/>
              </a:rPr>
              <a:t>makie</a:t>
            </a:r>
            <a:r>
              <a:rPr lang="en-US" sz="2000" dirty="0" smtClean="0">
                <a:latin typeface="Bodoni MT" panose="02070603080606020203" pitchFamily="18" charset="0"/>
              </a:rPr>
              <a:t> </a:t>
            </a:r>
            <a:r>
              <a:rPr lang="en-US" sz="2000" dirty="0" smtClean="0">
                <a:latin typeface="Bodoni MT" panose="02070603080606020203" pitchFamily="18" charset="0"/>
              </a:rPr>
              <a:t>the booking process a lot easier for </a:t>
            </a:r>
            <a:r>
              <a:rPr lang="en-US" sz="2000" dirty="0">
                <a:latin typeface="Bodoni MT" panose="02070603080606020203" pitchFamily="18" charset="0"/>
              </a:rPr>
              <a:t>f</a:t>
            </a:r>
            <a:r>
              <a:rPr lang="en-US" sz="2000" dirty="0" smtClean="0">
                <a:latin typeface="Bodoni MT" panose="02070603080606020203" pitchFamily="18" charset="0"/>
              </a:rPr>
              <a:t>uture visitors to the  university.  </a:t>
            </a:r>
            <a:endParaRPr lang="en-US" sz="2000" dirty="0">
              <a:latin typeface="Bodoni MT" panose="02070603080606020203" pitchFamily="18"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42385" y="2777196"/>
            <a:ext cx="4446563" cy="4446563"/>
          </a:xfrm>
          <a:prstGeom prst="rect">
            <a:avLst/>
          </a:prstGeom>
        </p:spPr>
      </p:pic>
    </p:spTree>
    <p:extLst>
      <p:ext uri="{BB962C8B-B14F-4D97-AF65-F5344CB8AC3E}">
        <p14:creationId xmlns:p14="http://schemas.microsoft.com/office/powerpoint/2010/main" val="267038662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5763" y="643944"/>
            <a:ext cx="10019764" cy="2554545"/>
          </a:xfrm>
          <a:prstGeom prst="rect">
            <a:avLst/>
          </a:prstGeom>
          <a:noFill/>
        </p:spPr>
        <p:txBody>
          <a:bodyPr wrap="square" rtlCol="0">
            <a:spAutoFit/>
          </a:bodyPr>
          <a:lstStyle/>
          <a:p>
            <a:pPr algn="ctr"/>
            <a:endParaRPr lang="en-US" sz="4000" dirty="0" smtClean="0">
              <a:latin typeface="Bodoni MT" panose="02070603080606020203" pitchFamily="18" charset="0"/>
            </a:endParaRPr>
          </a:p>
          <a:p>
            <a:pPr algn="ctr"/>
            <a:endParaRPr lang="en-US" sz="4000" dirty="0">
              <a:latin typeface="Bodoni MT" panose="02070603080606020203" pitchFamily="18" charset="0"/>
            </a:endParaRPr>
          </a:p>
          <a:p>
            <a:pPr algn="ctr"/>
            <a:endParaRPr lang="en-US" sz="4000" dirty="0" smtClean="0">
              <a:latin typeface="Bodoni MT" panose="02070603080606020203" pitchFamily="18" charset="0"/>
            </a:endParaRPr>
          </a:p>
          <a:p>
            <a:pPr algn="ctr"/>
            <a:r>
              <a:rPr lang="en-US" sz="4000" dirty="0" smtClean="0">
                <a:latin typeface="Bodoni MT" panose="02070603080606020203" pitchFamily="18" charset="0"/>
              </a:rPr>
              <a:t>THANK YOU FOR LISTENING!!</a:t>
            </a:r>
            <a:endParaRPr lang="en-US" sz="4000" dirty="0">
              <a:latin typeface="Bodoni MT" panose="02070603080606020203" pitchFamily="18" charset="0"/>
            </a:endParaRPr>
          </a:p>
        </p:txBody>
      </p:sp>
    </p:spTree>
    <p:extLst>
      <p:ext uri="{BB962C8B-B14F-4D97-AF65-F5344CB8AC3E}">
        <p14:creationId xmlns:p14="http://schemas.microsoft.com/office/powerpoint/2010/main" val="3974392981"/>
      </p:ext>
    </p:extLst>
  </p:cSld>
  <p:clrMapOvr>
    <a:masterClrMapping/>
  </p:clrMapOvr>
  <p:timing>
    <p:tnLst>
      <p:par>
        <p:cTn id="1" dur="indefinite" restart="never" nodeType="tmRoot"/>
      </p:par>
    </p:tnLst>
  </p:timing>
</p:sld>
</file>

<file path=ppt/theme/theme1.xml><?xml version="1.0" encoding="utf-8"?>
<a:theme xmlns:a="http://schemas.openxmlformats.org/drawingml/2006/main" name="Vapor Trail">
  <a:themeElements>
    <a:clrScheme name="Vapor Trail">
      <a:dk1>
        <a:sysClr val="windowText" lastClr="000000"/>
      </a:dk1>
      <a:lt1>
        <a:sysClr val="window" lastClr="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Vapor Trail">
      <a:majorFont>
        <a:latin typeface="Century Gothic" panose="020B0502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Vapor Trail">
      <a:fillStyleLst>
        <a:solidFill>
          <a:schemeClr val="phClr"/>
        </a:solidFill>
        <a:gradFill rotWithShape="1">
          <a:gsLst>
            <a:gs pos="0">
              <a:schemeClr val="phClr">
                <a:tint val="69000"/>
                <a:alpha val="100000"/>
                <a:satMod val="109000"/>
                <a:lumMod val="110000"/>
              </a:schemeClr>
            </a:gs>
            <a:gs pos="52000">
              <a:schemeClr val="phClr">
                <a:tint val="74000"/>
                <a:satMod val="100000"/>
                <a:lumMod val="104000"/>
              </a:schemeClr>
            </a:gs>
            <a:gs pos="100000">
              <a:schemeClr val="phClr">
                <a:tint val="78000"/>
                <a:satMod val="100000"/>
                <a:lumMod val="100000"/>
              </a:schemeClr>
            </a:gs>
          </a:gsLst>
          <a:lin ang="5400000" scaled="0"/>
        </a:gradFill>
        <a:gradFill rotWithShape="1">
          <a:gsLst>
            <a:gs pos="0">
              <a:schemeClr val="phClr">
                <a:tint val="96000"/>
                <a:satMod val="100000"/>
                <a:lumMod val="104000"/>
              </a:schemeClr>
            </a:gs>
            <a:gs pos="78000">
              <a:schemeClr val="phClr">
                <a:shade val="100000"/>
                <a:satMod val="110000"/>
                <a:lumMod val="100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cene3d>
            <a:camera prst="orthographicFront">
              <a:rot lat="0" lon="0" rev="0"/>
            </a:camera>
            <a:lightRig rig="threePt" dir="t"/>
          </a:scene3d>
          <a:sp3d>
            <a:bevelT w="25400" h="12700"/>
          </a:sp3d>
        </a:effectStyle>
        <a:effectStyle>
          <a:effectLst>
            <a:outerShdw blurRad="57150" dist="19050" dir="5400000" algn="ctr" rotWithShape="0">
              <a:srgbClr val="000000">
                <a:alpha val="48000"/>
              </a:srgbClr>
            </a:outerShdw>
          </a:effectLst>
          <a:scene3d>
            <a:camera prst="orthographicFront">
              <a:rot lat="0" lon="0" rev="0"/>
            </a:camera>
            <a:lightRig rig="threePt" dir="t"/>
          </a:scene3d>
          <a:sp3d>
            <a:bevelT w="50800" h="25400"/>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por Trail" id="{4FDF2955-7D9C-493C-B9F9-C205151B46CD}" vid="{8F31A783-2159-4870-BC29-2BA7D038EA44}"/>
    </a:ext>
  </a:extLst>
</a:theme>
</file>

<file path=docProps/app.xml><?xml version="1.0" encoding="utf-8"?>
<Properties xmlns="http://schemas.openxmlformats.org/officeDocument/2006/extended-properties" xmlns:vt="http://schemas.openxmlformats.org/officeDocument/2006/docPropsVTypes">
  <Template>TM04033937[[fn=Vapor Trail]]</Template>
  <TotalTime>875</TotalTime>
  <Words>963</Words>
  <Application>Microsoft Office PowerPoint</Application>
  <PresentationFormat>Widescreen</PresentationFormat>
  <Paragraphs>118</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Bodoni MT</vt:lpstr>
      <vt:lpstr>Century Gothic</vt:lpstr>
      <vt:lpstr>Times New Roman</vt:lpstr>
      <vt:lpstr>Vapor Trail</vt:lpstr>
      <vt:lpstr>PowerPoint Presentation</vt:lpstr>
      <vt:lpstr>PowerPoint Presentation</vt:lpstr>
      <vt:lpstr>PowerPoint Presentation</vt:lpstr>
      <vt:lpstr>STATEMENT OF RESEARCH PROBLEM</vt:lpstr>
      <vt:lpstr>AIMS</vt:lpstr>
      <vt:lpstr>PowerPoint Presentation</vt:lpstr>
      <vt:lpstr>PowerPoint Presentation</vt:lpstr>
      <vt:lpstr>PowerPoint Presentation</vt:lpstr>
      <vt:lpstr>PowerPoint Presentation</vt:lpstr>
      <vt:lpstr>PROPOESD SYSTEM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tamunokrobluejack@gmail.com</dc:creator>
  <cp:lastModifiedBy>tamunokrobluejack@gmail.com</cp:lastModifiedBy>
  <cp:revision>56</cp:revision>
  <dcterms:created xsi:type="dcterms:W3CDTF">2020-01-12T21:59:10Z</dcterms:created>
  <dcterms:modified xsi:type="dcterms:W3CDTF">2020-01-21T21:37:07Z</dcterms:modified>
</cp:coreProperties>
</file>